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9" r:id="rId2"/>
    <p:sldId id="261" r:id="rId3"/>
    <p:sldId id="267" r:id="rId4"/>
    <p:sldId id="264" r:id="rId5"/>
    <p:sldId id="268" r:id="rId6"/>
    <p:sldId id="272" r:id="rId7"/>
    <p:sldId id="273" r:id="rId8"/>
    <p:sldId id="274" r:id="rId9"/>
    <p:sldId id="276"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2" clrIdx="0">
    <p:extLst>
      <p:ext uri="{19B8F6BF-5375-455C-9EA6-DF929625EA0E}">
        <p15:presenceInfo xmlns:p15="http://schemas.microsoft.com/office/powerpoint/2012/main" userId="b83a7e78890f18e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18C"/>
    <a:srgbClr val="2E758E"/>
    <a:srgbClr val="1044AC"/>
    <a:srgbClr val="2E8E8E"/>
    <a:srgbClr val="2E8ECC"/>
    <a:srgbClr val="38164A"/>
    <a:srgbClr val="5A758E"/>
    <a:srgbClr val="072B49"/>
    <a:srgbClr val="0C3382"/>
    <a:srgbClr val="255B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AE56E8-1CA3-461B-8543-57F52130ACE5}" v="18" dt="2025-12-02T13:38:57.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02" autoAdjust="0"/>
    <p:restoredTop sz="94660"/>
  </p:normalViewPr>
  <p:slideViewPr>
    <p:cSldViewPr snapToGrid="0">
      <p:cViewPr varScale="1">
        <p:scale>
          <a:sx n="90" d="100"/>
          <a:sy n="90" d="100"/>
        </p:scale>
        <p:origin x="110"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ika Ompusunggu" userId="158fdd35f64aee19" providerId="LiveId" clId="{2BAE56E8-1CA3-461B-8543-57F52130ACE5}"/>
    <pc:docChg chg="undo custSel addSld modSld">
      <pc:chgData name="Judika Ompusunggu" userId="158fdd35f64aee19" providerId="LiveId" clId="{2BAE56E8-1CA3-461B-8543-57F52130ACE5}" dt="2025-12-02T13:39:19.917" v="90" actId="1076"/>
      <pc:docMkLst>
        <pc:docMk/>
      </pc:docMkLst>
      <pc:sldChg chg="addSp modSp mod">
        <pc:chgData name="Judika Ompusunggu" userId="158fdd35f64aee19" providerId="LiveId" clId="{2BAE56E8-1CA3-461B-8543-57F52130ACE5}" dt="2025-12-02T13:35:30.246" v="50" actId="166"/>
        <pc:sldMkLst>
          <pc:docMk/>
          <pc:sldMk cId="2367198782" sldId="274"/>
        </pc:sldMkLst>
        <pc:spChg chg="add mod">
          <ac:chgData name="Judika Ompusunggu" userId="158fdd35f64aee19" providerId="LiveId" clId="{2BAE56E8-1CA3-461B-8543-57F52130ACE5}" dt="2025-12-02T13:27:35.778" v="8" actId="207"/>
          <ac:spMkLst>
            <pc:docMk/>
            <pc:sldMk cId="2367198782" sldId="274"/>
            <ac:spMk id="2" creationId="{6E728878-04CA-5D25-04CA-526F1DA2691D}"/>
          </ac:spMkLst>
        </pc:spChg>
        <pc:spChg chg="add mod">
          <ac:chgData name="Judika Ompusunggu" userId="158fdd35f64aee19" providerId="LiveId" clId="{2BAE56E8-1CA3-461B-8543-57F52130ACE5}" dt="2025-12-02T13:34:37.128" v="44" actId="1076"/>
          <ac:spMkLst>
            <pc:docMk/>
            <pc:sldMk cId="2367198782" sldId="274"/>
            <ac:spMk id="3" creationId="{36D730FC-9653-7151-5098-C1F082F75C10}"/>
          </ac:spMkLst>
        </pc:spChg>
        <pc:spChg chg="add mod">
          <ac:chgData name="Judika Ompusunggu" userId="158fdd35f64aee19" providerId="LiveId" clId="{2BAE56E8-1CA3-461B-8543-57F52130ACE5}" dt="2025-12-02T13:34:31.136" v="43" actId="1076"/>
          <ac:spMkLst>
            <pc:docMk/>
            <pc:sldMk cId="2367198782" sldId="274"/>
            <ac:spMk id="4" creationId="{B19F327F-B8D7-DB86-A6A7-A394062AB937}"/>
          </ac:spMkLst>
        </pc:spChg>
        <pc:spChg chg="mod">
          <ac:chgData name="Judika Ompusunggu" userId="158fdd35f64aee19" providerId="LiveId" clId="{2BAE56E8-1CA3-461B-8543-57F52130ACE5}" dt="2025-12-02T13:25:37.832" v="0" actId="207"/>
          <ac:spMkLst>
            <pc:docMk/>
            <pc:sldMk cId="2367198782" sldId="274"/>
            <ac:spMk id="16" creationId="{8AF0DB30-92F5-8FE6-9FD8-421E34AA12BA}"/>
          </ac:spMkLst>
        </pc:spChg>
        <pc:spChg chg="mod">
          <ac:chgData name="Judika Ompusunggu" userId="158fdd35f64aee19" providerId="LiveId" clId="{2BAE56E8-1CA3-461B-8543-57F52130ACE5}" dt="2025-12-02T13:25:43.377" v="1" actId="207"/>
          <ac:spMkLst>
            <pc:docMk/>
            <pc:sldMk cId="2367198782" sldId="274"/>
            <ac:spMk id="17" creationId="{4B8179C9-E1B9-57FE-1A35-DF2977C7B9F0}"/>
          </ac:spMkLst>
        </pc:spChg>
        <pc:spChg chg="mod">
          <ac:chgData name="Judika Ompusunggu" userId="158fdd35f64aee19" providerId="LiveId" clId="{2BAE56E8-1CA3-461B-8543-57F52130ACE5}" dt="2025-12-02T13:25:47.465" v="2" actId="207"/>
          <ac:spMkLst>
            <pc:docMk/>
            <pc:sldMk cId="2367198782" sldId="274"/>
            <ac:spMk id="18" creationId="{1F6D2682-E0FA-1669-9FB8-521FB28604EB}"/>
          </ac:spMkLst>
        </pc:spChg>
        <pc:picChg chg="add mod ord modCrop">
          <ac:chgData name="Judika Ompusunggu" userId="158fdd35f64aee19" providerId="LiveId" clId="{2BAE56E8-1CA3-461B-8543-57F52130ACE5}" dt="2025-12-02T13:35:30.246" v="50" actId="166"/>
          <ac:picMkLst>
            <pc:docMk/>
            <pc:sldMk cId="2367198782" sldId="274"/>
            <ac:picMk id="8" creationId="{5889D92F-EB58-BFD0-8D23-BDED03DE4016}"/>
          </ac:picMkLst>
        </pc:picChg>
      </pc:sldChg>
      <pc:sldChg chg="addSp modSp mod">
        <pc:chgData name="Judika Ompusunggu" userId="158fdd35f64aee19" providerId="LiveId" clId="{2BAE56E8-1CA3-461B-8543-57F52130ACE5}" dt="2025-12-02T13:39:19.917" v="90" actId="1076"/>
        <pc:sldMkLst>
          <pc:docMk/>
          <pc:sldMk cId="947619380" sldId="275"/>
        </pc:sldMkLst>
        <pc:spChg chg="add mod">
          <ac:chgData name="Judika Ompusunggu" userId="158fdd35f64aee19" providerId="LiveId" clId="{2BAE56E8-1CA3-461B-8543-57F52130ACE5}" dt="2025-12-02T13:39:19.917" v="90" actId="1076"/>
          <ac:spMkLst>
            <pc:docMk/>
            <pc:sldMk cId="947619380" sldId="275"/>
            <ac:spMk id="2" creationId="{16877805-3F7F-AFCA-A369-23A5455BD782}"/>
          </ac:spMkLst>
        </pc:spChg>
      </pc:sldChg>
      <pc:sldChg chg="addSp modSp new mod">
        <pc:chgData name="Judika Ompusunggu" userId="158fdd35f64aee19" providerId="LiveId" clId="{2BAE56E8-1CA3-461B-8543-57F52130ACE5}" dt="2025-12-02T13:38:04.643" v="61" actId="20577"/>
        <pc:sldMkLst>
          <pc:docMk/>
          <pc:sldMk cId="4090415211" sldId="276"/>
        </pc:sldMkLst>
        <pc:spChg chg="add mod">
          <ac:chgData name="Judika Ompusunggu" userId="158fdd35f64aee19" providerId="LiveId" clId="{2BAE56E8-1CA3-461B-8543-57F52130ACE5}" dt="2025-12-02T13:38:04.643" v="61" actId="20577"/>
          <ac:spMkLst>
            <pc:docMk/>
            <pc:sldMk cId="4090415211" sldId="276"/>
            <ac:spMk id="2" creationId="{7DFF9EF8-3E36-E024-E8B1-883D6AAC4CA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1478B-F0E1-450D-834E-CE2869BDFC05}"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CB988-0DF6-4791-9B68-6B24F35F6D81}" type="slidenum">
              <a:rPr lang="en-US" smtClean="0"/>
              <a:t>‹#›</a:t>
            </a:fld>
            <a:endParaRPr lang="en-US"/>
          </a:p>
        </p:txBody>
      </p:sp>
    </p:spTree>
    <p:extLst>
      <p:ext uri="{BB962C8B-B14F-4D97-AF65-F5344CB8AC3E}">
        <p14:creationId xmlns:p14="http://schemas.microsoft.com/office/powerpoint/2010/main" val="153681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2CB988-0DF6-4791-9B68-6B24F35F6D81}" type="slidenum">
              <a:rPr lang="en-US" smtClean="0"/>
              <a:t>4</a:t>
            </a:fld>
            <a:endParaRPr lang="en-US"/>
          </a:p>
        </p:txBody>
      </p:sp>
    </p:spTree>
    <p:extLst>
      <p:ext uri="{BB962C8B-B14F-4D97-AF65-F5344CB8AC3E}">
        <p14:creationId xmlns:p14="http://schemas.microsoft.com/office/powerpoint/2010/main" val="550236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8FCC07-6641-8394-4DAB-AC4538868E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C051DD48-71EE-3116-06F3-20BAFBEA9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C998226-10D0-CB51-C318-376D9F373180}"/>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BE9FF1C6-2895-BC42-7A5E-6154541A1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D3A1EA3-90C2-8504-C68D-7A721A0660CA}"/>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14573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A3DFD6-8941-86B8-1757-56909ADC8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3C775AE-D92A-F0BC-9164-09D9087846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D57B4A0-ADED-FA61-B8BB-E23A222FB449}"/>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9EE23EC8-0E5B-8816-5A6F-C38693A8F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9012D66-698B-8B22-592A-771F9723C37E}"/>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210811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E2979B-1DAF-06C9-CFBF-FCD36140EB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1D2DCA3-21D3-FF47-D49A-19861621DB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5FF1B22-450B-FAAE-5E98-C6C0B3BD8817}"/>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68FFFF46-8E04-82B2-58E7-2815CD76A8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522F8BB-9417-2C70-ECBE-2D4B8B999A72}"/>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27990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412E5F-DE04-9B60-62E4-9AEF53ADD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F463A811-9838-DA54-E051-7DC8369F43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E14B313-2DBB-C77A-92C6-57D6B0750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3F8E41BE-71EA-2F8F-771F-29C142D5E8AB}"/>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6" name="Footer Placeholder 5">
            <a:extLst>
              <a:ext uri="{FF2B5EF4-FFF2-40B4-BE49-F238E27FC236}">
                <a16:creationId xmlns:a16="http://schemas.microsoft.com/office/drawing/2014/main" xmlns="" id="{D9BCEED1-59BA-FF4E-EAD5-2C2840A6A1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04D8CAE-C53A-41F8-0E97-5A3C69FF3671}"/>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594197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98101E-BCDF-E576-D09C-8DCF2C0FE1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A2CDCA7D-9C6A-E324-F5A9-09FBEE892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3CF52A-5EB3-EFD0-9108-F66E789DEC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2D27F41B-CE27-67F9-3411-5845060B3A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59A62F5-9749-898D-41EF-B593C8DB28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DDF9F4F0-C61E-3212-A9AF-3C513F602C19}"/>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8" name="Footer Placeholder 7">
            <a:extLst>
              <a:ext uri="{FF2B5EF4-FFF2-40B4-BE49-F238E27FC236}">
                <a16:creationId xmlns:a16="http://schemas.microsoft.com/office/drawing/2014/main" xmlns="" id="{E4B25BE7-5535-30EB-E01B-F637C1A614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0022F8D-FA01-77DA-B016-F34E85D9843C}"/>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2309882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5FF2B5-117B-97AE-0BAB-FB49B73943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A7B9543-DC7A-FC1A-1165-098C1597FD20}"/>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4" name="Footer Placeholder 3">
            <a:extLst>
              <a:ext uri="{FF2B5EF4-FFF2-40B4-BE49-F238E27FC236}">
                <a16:creationId xmlns:a16="http://schemas.microsoft.com/office/drawing/2014/main" xmlns="" id="{65EB7011-76FF-A4C5-40D6-B0B5F71A0E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93F7BAA6-5C15-7E33-8B12-ECAA6AD2E20B}"/>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89695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995A661-5468-4909-42FF-8C39BF7A63D0}"/>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3" name="Footer Placeholder 2">
            <a:extLst>
              <a:ext uri="{FF2B5EF4-FFF2-40B4-BE49-F238E27FC236}">
                <a16:creationId xmlns:a16="http://schemas.microsoft.com/office/drawing/2014/main" xmlns="" id="{C208E48E-F3D2-022A-6507-9499642DA7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0BF1AC61-364E-42AD-0206-9B803328217A}"/>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3493536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97520F-2A89-1AA1-66E2-74A2525EC9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ADF1D9B8-8496-11DE-1D4D-291E80422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5F8779CB-5C95-C762-1DE7-2D1763D4B3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F66C284-9E28-43BD-AA35-A226C0F66382}"/>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6" name="Footer Placeholder 5">
            <a:extLst>
              <a:ext uri="{FF2B5EF4-FFF2-40B4-BE49-F238E27FC236}">
                <a16:creationId xmlns:a16="http://schemas.microsoft.com/office/drawing/2014/main" xmlns="" id="{D8D01822-DAD1-7261-8C30-5831762AFD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E11F374-4B3C-F553-4A50-D91B7437F7A5}"/>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485081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3D8A70-1073-FC89-76AE-191938F27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FDF12A18-F98F-F003-2200-A6EF0879B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A0F3013B-540A-08A0-5259-E0CFB4602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49353CA-CF99-EE9F-47A3-63514E99256A}"/>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6" name="Footer Placeholder 5">
            <a:extLst>
              <a:ext uri="{FF2B5EF4-FFF2-40B4-BE49-F238E27FC236}">
                <a16:creationId xmlns:a16="http://schemas.microsoft.com/office/drawing/2014/main" xmlns="" id="{5A1A22FE-010A-F405-6773-17C8D0F7E9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BDFAE6B-2347-58DA-8B9B-FA60206EF215}"/>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1761110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F0D17D-D503-0213-7975-02DDEF297D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7BF3A149-875D-BD36-E138-0C17E174A1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B5C393F-6DC7-9452-BFF2-664749A5044B}"/>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0EF12413-877D-8415-832C-4E72F0089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A9B628B-C096-07E6-3A12-DB23ACC70664}"/>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345573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51C5463-4CD8-E996-C246-C5F357A589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5FE73735-C93E-4607-882A-4901BF7233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D401B20-4233-C68E-9E50-0B50A7B2DA92}"/>
              </a:ext>
            </a:extLst>
          </p:cNvPr>
          <p:cNvSpPr>
            <a:spLocks noGrp="1"/>
          </p:cNvSpPr>
          <p:nvPr>
            <p:ph type="dt" sz="half" idx="10"/>
          </p:nvPr>
        </p:nvSpPr>
        <p:spPr/>
        <p:txBody>
          <a:body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A2C9E656-F01E-FC90-5A6F-CDD8DB151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4649384-9F84-17D6-0C4F-27B5F0F8BDDC}"/>
              </a:ext>
            </a:extLst>
          </p:cNvPr>
          <p:cNvSpPr>
            <a:spLocks noGrp="1"/>
          </p:cNvSpPr>
          <p:nvPr>
            <p:ph type="sldNum" sz="quarter" idx="12"/>
          </p:nvPr>
        </p:nvSpPr>
        <p:spPr/>
        <p:txBody>
          <a:bodyPr/>
          <a:lstStyle/>
          <a:p>
            <a:fld id="{05350D4B-E25F-41E3-BC3C-0BFF512318B1}" type="slidenum">
              <a:rPr lang="en-US" smtClean="0"/>
              <a:t>‹#›</a:t>
            </a:fld>
            <a:endParaRPr lang="en-US"/>
          </a:p>
        </p:txBody>
      </p:sp>
    </p:spTree>
    <p:extLst>
      <p:ext uri="{BB962C8B-B14F-4D97-AF65-F5344CB8AC3E}">
        <p14:creationId xmlns:p14="http://schemas.microsoft.com/office/powerpoint/2010/main" val="68170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EEADC28-540B-C194-653B-AAF8DC1CD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1F730006-10CE-AB83-02B5-FB2D02BE2B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ADC1A5A-5016-B154-D6A7-57561B3039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ED1E21-09B0-4CFC-A9E6-D25F38623C5D}" type="datetimeFigureOut">
              <a:rPr lang="en-US" smtClean="0"/>
              <a:t>12/5/2025</a:t>
            </a:fld>
            <a:endParaRPr lang="en-US"/>
          </a:p>
        </p:txBody>
      </p:sp>
      <p:sp>
        <p:nvSpPr>
          <p:cNvPr id="5" name="Footer Placeholder 4">
            <a:extLst>
              <a:ext uri="{FF2B5EF4-FFF2-40B4-BE49-F238E27FC236}">
                <a16:creationId xmlns:a16="http://schemas.microsoft.com/office/drawing/2014/main" xmlns="" id="{0E3FA89B-3B0A-49CC-C110-959420FD4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F318A399-98BB-D254-470B-B0C652531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350D4B-E25F-41E3-BC3C-0BFF512318B1}" type="slidenum">
              <a:rPr lang="en-US" smtClean="0"/>
              <a:t>‹#›</a:t>
            </a:fld>
            <a:endParaRPr lang="en-US"/>
          </a:p>
        </p:txBody>
      </p:sp>
    </p:spTree>
    <p:extLst>
      <p:ext uri="{BB962C8B-B14F-4D97-AF65-F5344CB8AC3E}">
        <p14:creationId xmlns:p14="http://schemas.microsoft.com/office/powerpoint/2010/main" val="20080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microsoft.com/office/2007/relationships/hdphoto" Target="../media/hdphoto1.wdp"/><Relationship Id="rId7" Type="http://schemas.microsoft.com/office/2007/relationships/hdphoto" Target="../media/hdphoto3.wdp"/><Relationship Id="rId12" Type="http://schemas.microsoft.com/office/2007/relationships/hdphoto" Target="../media/hdphoto5.wdp"/><Relationship Id="rId2" Type="http://schemas.openxmlformats.org/officeDocument/2006/relationships/image" Target="../media/image3.png"/><Relationship Id="rId16" Type="http://schemas.openxmlformats.org/officeDocument/2006/relationships/image" Target="../media/image12.jp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png"/><Relationship Id="rId5" Type="http://schemas.microsoft.com/office/2007/relationships/hdphoto" Target="../media/hdphoto2.wdp"/><Relationship Id="rId15" Type="http://schemas.openxmlformats.org/officeDocument/2006/relationships/image" Target="../media/image11.png"/><Relationship Id="rId10" Type="http://schemas.openxmlformats.org/officeDocument/2006/relationships/image" Target="../media/image7.png"/><Relationship Id="rId4" Type="http://schemas.openxmlformats.org/officeDocument/2006/relationships/image" Target="../media/image4.png"/><Relationship Id="rId9" Type="http://schemas.microsoft.com/office/2007/relationships/hdphoto" Target="../media/hdphoto4.wdp"/><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microsoft.com/office/2007/relationships/hdphoto" Target="../media/hdphoto7.wdp"/><Relationship Id="rId4" Type="http://schemas.openxmlformats.org/officeDocument/2006/relationships/image" Target="../media/image14.png"/><Relationship Id="rId9" Type="http://schemas.microsoft.com/office/2007/relationships/hdphoto" Target="../media/hdphoto9.wdp"/></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4.jpg"/><Relationship Id="rId4" Type="http://schemas.microsoft.com/office/2007/relationships/hdphoto" Target="../media/hdphoto10.wdp"/></Relationships>
</file>

<file path=ppt/slides/_rels/slide6.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5.png"/><Relationship Id="rId1" Type="http://schemas.openxmlformats.org/officeDocument/2006/relationships/slideLayout" Target="../slideLayouts/slideLayout7.xml"/><Relationship Id="rId6" Type="http://schemas.microsoft.com/office/2007/relationships/hdphoto" Target="../media/hdphoto10.wdp"/><Relationship Id="rId5" Type="http://schemas.openxmlformats.org/officeDocument/2006/relationships/image" Target="../media/image23.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28.jpg"/><Relationship Id="rId4" Type="http://schemas.microsoft.com/office/2007/relationships/hdphoto" Target="../media/hdphoto10.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xmlns="" id="{F6292111-7DF6-BD07-99BB-BB6F70403C65}"/>
              </a:ext>
            </a:extLst>
          </p:cNvPr>
          <p:cNvSpPr/>
          <p:nvPr/>
        </p:nvSpPr>
        <p:spPr>
          <a:xfrm>
            <a:off x="-19050" y="0"/>
            <a:ext cx="8141111" cy="6858000"/>
          </a:xfrm>
          <a:prstGeom prst="homePlate">
            <a:avLst/>
          </a:prstGeom>
          <a:solidFill>
            <a:srgbClr val="0A2A6A">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solidFill>
                  <a:schemeClr val="bg1"/>
                </a:solidFill>
                <a:latin typeface="Georgia" panose="02040502050405020303" pitchFamily="18" charset="0"/>
              </a:rPr>
              <a:t>T</a:t>
            </a:r>
            <a:r>
              <a:rPr lang="en-US" sz="4000" b="0" i="0" dirty="0">
                <a:solidFill>
                  <a:schemeClr val="bg1"/>
                </a:solidFill>
                <a:effectLst/>
                <a:latin typeface="Georgia" panose="02040502050405020303" pitchFamily="18" charset="0"/>
              </a:rPr>
              <a:t>he </a:t>
            </a:r>
            <a:r>
              <a:rPr lang="en-US" sz="4000" dirty="0">
                <a:solidFill>
                  <a:schemeClr val="bg1"/>
                </a:solidFill>
                <a:latin typeface="Georgia" panose="02040502050405020303" pitchFamily="18" charset="0"/>
              </a:rPr>
              <a:t>I</a:t>
            </a:r>
            <a:r>
              <a:rPr lang="en-US" sz="4000" b="0" i="0" dirty="0">
                <a:solidFill>
                  <a:schemeClr val="bg1"/>
                </a:solidFill>
                <a:effectLst/>
                <a:latin typeface="Georgia" panose="02040502050405020303" pitchFamily="18" charset="0"/>
              </a:rPr>
              <a:t>mpact </a:t>
            </a:r>
            <a:r>
              <a:rPr lang="en-US" sz="4000" dirty="0">
                <a:solidFill>
                  <a:schemeClr val="bg1"/>
                </a:solidFill>
                <a:latin typeface="Georgia" panose="02040502050405020303" pitchFamily="18" charset="0"/>
              </a:rPr>
              <a:t>o</a:t>
            </a:r>
            <a:r>
              <a:rPr lang="en-US" sz="4000" b="0" i="0" dirty="0">
                <a:solidFill>
                  <a:schemeClr val="bg1"/>
                </a:solidFill>
                <a:effectLst/>
                <a:latin typeface="Georgia" panose="02040502050405020303" pitchFamily="18" charset="0"/>
              </a:rPr>
              <a:t>f AI </a:t>
            </a:r>
            <a:r>
              <a:rPr lang="en-US" sz="4000" dirty="0">
                <a:solidFill>
                  <a:schemeClr val="bg1"/>
                </a:solidFill>
                <a:latin typeface="Georgia" panose="02040502050405020303" pitchFamily="18" charset="0"/>
              </a:rPr>
              <a:t>o</a:t>
            </a:r>
            <a:r>
              <a:rPr lang="en-US" sz="4000" b="0" i="0" dirty="0">
                <a:solidFill>
                  <a:schemeClr val="bg1"/>
                </a:solidFill>
                <a:effectLst/>
                <a:latin typeface="Georgia" panose="02040502050405020303" pitchFamily="18" charset="0"/>
              </a:rPr>
              <a:t>n </a:t>
            </a:r>
            <a:r>
              <a:rPr lang="en-US" sz="4000" dirty="0">
                <a:solidFill>
                  <a:schemeClr val="bg1"/>
                </a:solidFill>
                <a:latin typeface="Georgia" panose="02040502050405020303" pitchFamily="18" charset="0"/>
              </a:rPr>
              <a:t>S</a:t>
            </a:r>
            <a:r>
              <a:rPr lang="en-US" sz="4000" b="0" i="0" dirty="0">
                <a:solidFill>
                  <a:schemeClr val="bg1"/>
                </a:solidFill>
                <a:effectLst/>
                <a:latin typeface="Georgia" panose="02040502050405020303" pitchFamily="18" charset="0"/>
              </a:rPr>
              <a:t>tudent’s </a:t>
            </a:r>
            <a:r>
              <a:rPr lang="en-US" sz="4000" dirty="0">
                <a:solidFill>
                  <a:schemeClr val="bg1"/>
                </a:solidFill>
                <a:latin typeface="Georgia" panose="02040502050405020303" pitchFamily="18" charset="0"/>
              </a:rPr>
              <a:t>G</a:t>
            </a:r>
            <a:r>
              <a:rPr lang="en-US" sz="4000" b="0" i="0" dirty="0">
                <a:solidFill>
                  <a:schemeClr val="bg1"/>
                </a:solidFill>
                <a:effectLst/>
                <a:latin typeface="Georgia" panose="02040502050405020303" pitchFamily="18" charset="0"/>
              </a:rPr>
              <a:t>rades </a:t>
            </a:r>
            <a:r>
              <a:rPr lang="en-US" sz="4000" dirty="0">
                <a:solidFill>
                  <a:schemeClr val="bg1"/>
                </a:solidFill>
                <a:latin typeface="Georgia" panose="02040502050405020303" pitchFamily="18" charset="0"/>
              </a:rPr>
              <a:t>C</a:t>
            </a:r>
            <a:r>
              <a:rPr lang="en-US" sz="4000" b="0" i="0" dirty="0">
                <a:solidFill>
                  <a:schemeClr val="bg1"/>
                </a:solidFill>
                <a:effectLst/>
                <a:latin typeface="Georgia" panose="02040502050405020303" pitchFamily="18" charset="0"/>
              </a:rPr>
              <a:t>ompared to Their </a:t>
            </a:r>
            <a:r>
              <a:rPr lang="en-US" sz="4000" dirty="0">
                <a:solidFill>
                  <a:schemeClr val="bg1"/>
                </a:solidFill>
                <a:latin typeface="Georgia" panose="02040502050405020303" pitchFamily="18" charset="0"/>
              </a:rPr>
              <a:t>A</a:t>
            </a:r>
            <a:r>
              <a:rPr lang="en-US" sz="4000" b="0" i="0" dirty="0">
                <a:solidFill>
                  <a:schemeClr val="bg1"/>
                </a:solidFill>
                <a:effectLst/>
                <a:latin typeface="Georgia" panose="02040502050405020303" pitchFamily="18" charset="0"/>
              </a:rPr>
              <a:t>ctual Skills</a:t>
            </a:r>
          </a:p>
          <a:p>
            <a:pPr algn="ctr"/>
            <a:endParaRPr lang="en-US" sz="4000" dirty="0">
              <a:solidFill>
                <a:schemeClr val="bg1"/>
              </a:solidFill>
              <a:latin typeface="Britannic Bold" panose="020B0903060703020204" pitchFamily="34" charset="0"/>
            </a:endParaRPr>
          </a:p>
          <a:p>
            <a:r>
              <a:rPr lang="en-US" sz="2000" dirty="0">
                <a:solidFill>
                  <a:schemeClr val="bg1"/>
                </a:solidFill>
                <a:latin typeface="Century" panose="02040604050505020304" pitchFamily="18" charset="0"/>
                <a:cs typeface="Arial" panose="020B0604020202020204" pitchFamily="34" charset="0"/>
              </a:rPr>
              <a:t>Evan </a:t>
            </a:r>
            <a:r>
              <a:rPr lang="en-US" sz="2000" dirty="0" err="1">
                <a:solidFill>
                  <a:schemeClr val="bg1"/>
                </a:solidFill>
                <a:latin typeface="Century" panose="02040604050505020304" pitchFamily="18" charset="0"/>
                <a:cs typeface="Arial" panose="020B0604020202020204" pitchFamily="34" charset="0"/>
              </a:rPr>
              <a:t>Benta</a:t>
            </a:r>
            <a:r>
              <a:rPr lang="en-US" sz="2000" dirty="0">
                <a:solidFill>
                  <a:schemeClr val="bg1"/>
                </a:solidFill>
                <a:latin typeface="Century" panose="02040604050505020304" pitchFamily="18" charset="0"/>
                <a:cs typeface="Arial" panose="020B0604020202020204" pitchFamily="34" charset="0"/>
              </a:rPr>
              <a:t> </a:t>
            </a:r>
            <a:r>
              <a:rPr lang="en-US" sz="2000" dirty="0" err="1">
                <a:solidFill>
                  <a:schemeClr val="bg1"/>
                </a:solidFill>
                <a:latin typeface="Century" panose="02040604050505020304" pitchFamily="18" charset="0"/>
                <a:cs typeface="Arial" panose="020B0604020202020204" pitchFamily="34" charset="0"/>
              </a:rPr>
              <a:t>Purba</a:t>
            </a:r>
            <a:r>
              <a:rPr lang="en-US" sz="2000" dirty="0">
                <a:solidFill>
                  <a:schemeClr val="bg1"/>
                </a:solidFill>
                <a:latin typeface="Century" panose="02040604050505020304" pitchFamily="18" charset="0"/>
                <a:cs typeface="Arial" panose="020B0604020202020204" pitchFamily="34" charset="0"/>
              </a:rPr>
              <a:t> (11S25038)</a:t>
            </a:r>
          </a:p>
          <a:p>
            <a:r>
              <a:rPr lang="en-US" sz="2000" dirty="0">
                <a:solidFill>
                  <a:schemeClr val="bg1"/>
                </a:solidFill>
                <a:latin typeface="Century" panose="02040604050505020304" pitchFamily="18" charset="0"/>
                <a:cs typeface="Arial" panose="020B0604020202020204" pitchFamily="34" charset="0"/>
              </a:rPr>
              <a:t>Judika Ompusunggu (11S25044)</a:t>
            </a:r>
          </a:p>
        </p:txBody>
      </p:sp>
      <p:pic>
        <p:nvPicPr>
          <p:cNvPr id="7" name="Picture 6">
            <a:extLst>
              <a:ext uri="{FF2B5EF4-FFF2-40B4-BE49-F238E27FC236}">
                <a16:creationId xmlns:a16="http://schemas.microsoft.com/office/drawing/2014/main" xmlns="" id="{8D5D34CD-3A80-755B-AAE2-DA8C0137EA79}"/>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r="64355"/>
          <a:stretch/>
        </p:blipFill>
        <p:spPr>
          <a:xfrm>
            <a:off x="10618839" y="-101764"/>
            <a:ext cx="1573161" cy="1787424"/>
          </a:xfrm>
          <a:prstGeom prst="rect">
            <a:avLst/>
          </a:prstGeom>
        </p:spPr>
      </p:pic>
    </p:spTree>
    <p:extLst>
      <p:ext uri="{BB962C8B-B14F-4D97-AF65-F5344CB8AC3E}">
        <p14:creationId xmlns:p14="http://schemas.microsoft.com/office/powerpoint/2010/main" val="366682652"/>
      </p:ext>
    </p:extLst>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49"/>
          <p:cNvSpPr/>
          <p:nvPr/>
        </p:nvSpPr>
        <p:spPr>
          <a:xfrm>
            <a:off x="10200279" y="5086978"/>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0655266" y="5544547"/>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arallelogram 33"/>
          <p:cNvSpPr/>
          <p:nvPr/>
        </p:nvSpPr>
        <p:spPr>
          <a:xfrm>
            <a:off x="-130976" y="5458816"/>
            <a:ext cx="5270868"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p:cNvSpPr/>
          <p:nvPr/>
        </p:nvSpPr>
        <p:spPr>
          <a:xfrm>
            <a:off x="-183921" y="4916012"/>
            <a:ext cx="3326498"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p:cNvSpPr/>
          <p:nvPr/>
        </p:nvSpPr>
        <p:spPr>
          <a:xfrm>
            <a:off x="-130975" y="4387566"/>
            <a:ext cx="2859103"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p:cNvSpPr/>
          <p:nvPr/>
        </p:nvSpPr>
        <p:spPr>
          <a:xfrm>
            <a:off x="-154004" y="3836564"/>
            <a:ext cx="2356700" cy="341932"/>
          </a:xfrm>
          <a:prstGeom prst="parallelogram">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77492"/>
            <a:ext cx="12192000" cy="3564611"/>
          </a:xfrm>
          <a:prstGeom prst="rect">
            <a:avLst/>
          </a:prstGeom>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26786" y1="55556" x2="26786" y2="55556"/>
                        <a14:foregroundMark x1="21429" y1="50855" x2="21429" y2="50855"/>
                      </a14:backgroundRemoval>
                    </a14:imgEffect>
                  </a14:imgLayer>
                </a14:imgProps>
              </a:ext>
              <a:ext uri="{28A0092B-C50C-407E-A947-70E740481C1C}">
                <a14:useLocalDpi xmlns:a14="http://schemas.microsoft.com/office/drawing/2010/main" val="0"/>
              </a:ext>
            </a:extLst>
          </a:blip>
          <a:srcRect l="9218" t="20241" r="54047" b="20046"/>
          <a:stretch/>
        </p:blipFill>
        <p:spPr>
          <a:xfrm>
            <a:off x="1074719" y="1150749"/>
            <a:ext cx="1828800" cy="1774556"/>
          </a:xfrm>
          <a:prstGeom prst="rect">
            <a:avLst/>
          </a:prstGeom>
        </p:spPr>
      </p:pic>
      <p:sp>
        <p:nvSpPr>
          <p:cNvPr id="6" name="Rectangle 5"/>
          <p:cNvSpPr/>
          <p:nvPr/>
        </p:nvSpPr>
        <p:spPr>
          <a:xfrm>
            <a:off x="1284124" y="2783292"/>
            <a:ext cx="1615806" cy="461665"/>
          </a:xfrm>
          <a:prstGeom prst="rect">
            <a:avLst/>
          </a:prstGeom>
        </p:spPr>
        <p:txBody>
          <a:bodyPr wrap="square">
            <a:spAutoFit/>
          </a:bodyPr>
          <a:lstStyle/>
          <a:p>
            <a:r>
              <a:rPr lang="en-ID" sz="2400" dirty="0" err="1">
                <a:solidFill>
                  <a:schemeClr val="bg1"/>
                </a:solidFill>
                <a:latin typeface="Cooper Black" panose="0208090404030B020404" pitchFamily="18" charset="0"/>
              </a:rPr>
              <a:t>ChatGpt</a:t>
            </a:r>
            <a:endParaRPr lang="en-US" sz="2400" dirty="0">
              <a:solidFill>
                <a:schemeClr val="bg1"/>
              </a:solidFill>
              <a:latin typeface="Cooper Black" panose="0208090404030B020404" pitchFamily="18" charset="0"/>
            </a:endParaRPr>
          </a:p>
        </p:txBody>
      </p:sp>
      <p:sp>
        <p:nvSpPr>
          <p:cNvPr id="7" name="Oval 6"/>
          <p:cNvSpPr/>
          <p:nvPr/>
        </p:nvSpPr>
        <p:spPr>
          <a:xfrm>
            <a:off x="126687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961" b="89941" l="9961" r="91797">
                        <a14:foregroundMark x1="41113" y1="41797" x2="41113" y2="41797"/>
                        <a14:foregroundMark x1="54199" y1="48242" x2="54199" y2="48242"/>
                        <a14:foregroundMark x1="42480" y1="47852" x2="42480" y2="47852"/>
                        <a14:foregroundMark x1="57715" y1="37598" x2="57715" y2="37598"/>
                        <a14:foregroundMark x1="32910" y1="33301" x2="32910" y2="33301"/>
                        <a14:foregroundMark x1="35449" y1="42871" x2="35449" y2="42871"/>
                        <a14:foregroundMark x1="38965" y1="34082" x2="38965" y2="34082"/>
                        <a14:foregroundMark x1="45996" y1="37598" x2="45996" y2="37598"/>
                        <a14:foregroundMark x1="51758" y1="45703" x2="51758" y2="45703"/>
                        <a14:foregroundMark x1="41113" y1="62012" x2="41113" y2="62012"/>
                        <a14:foregroundMark x1="30469" y1="62402" x2="30469" y2="62402"/>
                        <a14:foregroundMark x1="19043" y1="63867" x2="19043" y2="63867"/>
                        <a14:foregroundMark x1="15918" y1="61328" x2="15918" y2="61328"/>
                        <a14:foregroundMark x1="58105" y1="64160" x2="58105" y2="64160"/>
                        <a14:foregroundMark x1="67285" y1="66992" x2="67285" y2="66992"/>
                        <a14:foregroundMark x1="74805" y1="64160" x2="74805" y2="64160"/>
                        <a14:foregroundMark x1="85449" y1="61719" x2="85449" y2="61719"/>
                        <a14:foregroundMark x1="91797" y1="66992" x2="91797" y2="66992"/>
                      </a14:backgroundRemoval>
                    </a14:imgEffect>
                  </a14:imgLayer>
                </a14:imgProps>
              </a:ext>
              <a:ext uri="{28A0092B-C50C-407E-A947-70E740481C1C}">
                <a14:useLocalDpi xmlns:a14="http://schemas.microsoft.com/office/drawing/2010/main" val="0"/>
              </a:ext>
            </a:extLst>
          </a:blip>
          <a:srcRect l="28368" t="18928" r="23405" b="44547"/>
          <a:stretch/>
        </p:blipFill>
        <p:spPr>
          <a:xfrm>
            <a:off x="3708263" y="1639915"/>
            <a:ext cx="1053885" cy="798163"/>
          </a:xfrm>
          <a:prstGeom prst="rect">
            <a:avLst/>
          </a:prstGeom>
        </p:spPr>
      </p:pic>
      <p:pic>
        <p:nvPicPr>
          <p:cNvPr id="9" name="Picture 8"/>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9961" b="89941" l="9961" r="91797">
                        <a14:foregroundMark x1="41113" y1="41797" x2="41113" y2="41797"/>
                        <a14:foregroundMark x1="54199" y1="48242" x2="54199" y2="48242"/>
                        <a14:foregroundMark x1="42480" y1="47852" x2="42480" y2="47852"/>
                        <a14:foregroundMark x1="57715" y1="37598" x2="57715" y2="37598"/>
                        <a14:foregroundMark x1="32910" y1="33301" x2="32910" y2="33301"/>
                        <a14:foregroundMark x1="35449" y1="42871" x2="35449" y2="42871"/>
                        <a14:foregroundMark x1="38965" y1="34082" x2="38965" y2="34082"/>
                        <a14:foregroundMark x1="45996" y1="37598" x2="45996" y2="37598"/>
                        <a14:foregroundMark x1="51758" y1="45703" x2="51758" y2="45703"/>
                        <a14:foregroundMark x1="41113" y1="62012" x2="41113" y2="62012"/>
                        <a14:foregroundMark x1="30469" y1="62402" x2="30469" y2="62402"/>
                        <a14:foregroundMark x1="19043" y1="63867" x2="19043" y2="63867"/>
                        <a14:foregroundMark x1="15918" y1="61328" x2="15918" y2="61328"/>
                        <a14:foregroundMark x1="58105" y1="64160" x2="58105" y2="64160"/>
                        <a14:foregroundMark x1="67285" y1="66992" x2="67285" y2="66992"/>
                        <a14:foregroundMark x1="74805" y1="64160" x2="74805" y2="64160"/>
                        <a14:foregroundMark x1="85449" y1="61719" x2="85449" y2="61719"/>
                        <a14:foregroundMark x1="91797" y1="66992" x2="91797" y2="66992"/>
                      </a14:backgroundRemoval>
                    </a14:imgEffect>
                  </a14:imgLayer>
                </a14:imgProps>
              </a:ext>
              <a:ext uri="{28A0092B-C50C-407E-A947-70E740481C1C}">
                <a14:useLocalDpi xmlns:a14="http://schemas.microsoft.com/office/drawing/2010/main" val="0"/>
              </a:ext>
            </a:extLst>
          </a:blip>
          <a:srcRect t="53723" b="27837"/>
          <a:stretch/>
        </p:blipFill>
        <p:spPr>
          <a:xfrm>
            <a:off x="3142576" y="2842001"/>
            <a:ext cx="2185261" cy="402956"/>
          </a:xfrm>
          <a:prstGeom prst="rect">
            <a:avLst/>
          </a:prstGeom>
        </p:spPr>
      </p:pic>
      <p:sp>
        <p:nvSpPr>
          <p:cNvPr id="10" name="Oval 9"/>
          <p:cNvSpPr/>
          <p:nvPr/>
        </p:nvSpPr>
        <p:spPr>
          <a:xfrm>
            <a:off x="347578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l="30267" t="11599" r="29733" b="26852"/>
          <a:stretch/>
        </p:blipFill>
        <p:spPr>
          <a:xfrm>
            <a:off x="5715751" y="1542412"/>
            <a:ext cx="1000760" cy="991229"/>
          </a:xfrm>
          <a:prstGeom prst="rect">
            <a:avLst/>
          </a:prstGeom>
        </p:spPr>
      </p:pic>
      <p:sp>
        <p:nvSpPr>
          <p:cNvPr id="11" name="Oval 10"/>
          <p:cNvSpPr/>
          <p:nvPr/>
        </p:nvSpPr>
        <p:spPr>
          <a:xfrm>
            <a:off x="5456715"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10">
            <a:extLst>
              <a:ext uri="{BEBA8EAE-BF5A-486C-A8C5-ECC9F3942E4B}">
                <a14:imgProps xmlns:a14="http://schemas.microsoft.com/office/drawing/2010/main">
                  <a14:imgLayer r:embed="rId9">
                    <a14:imgEffect>
                      <a14:backgroundRemoval t="81556" b="94000" l="15571" r="34857">
                        <a14:foregroundMark x1="18571" y1="85111" x2="18571" y2="85111"/>
                        <a14:foregroundMark x1="23143" y1="88222" x2="23143" y2="88222"/>
                        <a14:foregroundMark x1="24571" y1="88222" x2="24571" y2="88222"/>
                        <a14:foregroundMark x1="26714" y1="88889" x2="26714" y2="88889"/>
                        <a14:foregroundMark x1="28857" y1="88222" x2="28857" y2="88222"/>
                        <a14:foregroundMark x1="30143" y1="87556" x2="30143" y2="87556"/>
                        <a14:foregroundMark x1="30143" y1="85111" x2="30143" y2="85111"/>
                        <a14:foregroundMark x1="31143" y1="87778" x2="31143" y2="87778"/>
                        <a14:foregroundMark x1="34857" y1="90000" x2="34857" y2="90000"/>
                        <a14:foregroundMark x1="34143" y1="84000" x2="34143" y2="84000"/>
                        <a14:backgroundMark x1="22143" y1="90000" x2="22143" y2="90000"/>
                        <a14:backgroundMark x1="22000" y1="88000" x2="22000" y2="88000"/>
                      </a14:backgroundRemoval>
                    </a14:imgEffect>
                  </a14:imgLayer>
                </a14:imgProps>
              </a:ext>
              <a:ext uri="{28A0092B-C50C-407E-A947-70E740481C1C}">
                <a14:useLocalDpi xmlns:a14="http://schemas.microsoft.com/office/drawing/2010/main" val="0"/>
              </a:ext>
            </a:extLst>
          </a:blip>
          <a:srcRect l="13276" t="80222" r="62953" b="4371"/>
          <a:stretch/>
        </p:blipFill>
        <p:spPr>
          <a:xfrm>
            <a:off x="5658128" y="2816093"/>
            <a:ext cx="1091448" cy="454771"/>
          </a:xfrm>
          <a:prstGeom prst="rect">
            <a:avLst/>
          </a:prstGeom>
        </p:spPr>
      </p:pic>
      <p:pic>
        <p:nvPicPr>
          <p:cNvPr id="12" name="Picture 11"/>
          <p:cNvPicPr>
            <a:picLocks noChangeAspect="1"/>
          </p:cNvPicPr>
          <p:nvPr/>
        </p:nvPicPr>
        <p:blipFill rotWithShape="1">
          <a:blip r:embed="rId11" cstate="print">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rcRect l="35462" t="9156" r="37348" b="41012"/>
          <a:stretch/>
        </p:blipFill>
        <p:spPr>
          <a:xfrm>
            <a:off x="7840099" y="1511505"/>
            <a:ext cx="991481" cy="1022136"/>
          </a:xfrm>
          <a:prstGeom prst="rect">
            <a:avLst/>
          </a:prstGeom>
        </p:spPr>
      </p:pic>
      <p:sp>
        <p:nvSpPr>
          <p:cNvPr id="13" name="Oval 12"/>
          <p:cNvSpPr/>
          <p:nvPr/>
        </p:nvSpPr>
        <p:spPr>
          <a:xfrm>
            <a:off x="7574958" y="1309607"/>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rotWithShape="1">
          <a:blip r:embed="rId13" cstate="print">
            <a:extLst>
              <a:ext uri="{BEBA8EAE-BF5A-486C-A8C5-ECC9F3942E4B}">
                <a14:imgProps xmlns:a14="http://schemas.microsoft.com/office/drawing/2010/main">
                  <a14:imgLayer r:embed="rId12">
                    <a14:imgEffect>
                      <a14:backgroundRemoval t="63889" b="81204" l="31823" r="68958">
                        <a14:foregroundMark x1="45052" y1="72315" x2="45052" y2="72315"/>
                        <a14:foregroundMark x1="47552" y1="71944" x2="47552" y2="71944"/>
                        <a14:foregroundMark x1="50625" y1="72222" x2="50625" y2="72222"/>
                        <a14:foregroundMark x1="59948" y1="73704" x2="59948" y2="73704"/>
                        <a14:foregroundMark x1="63958" y1="73241" x2="63958" y2="73241"/>
                      </a14:backgroundRemoval>
                    </a14:imgEffect>
                    <a14:imgEffect>
                      <a14:brightnessContrast bright="100000"/>
                    </a14:imgEffect>
                  </a14:imgLayer>
                </a14:imgProps>
              </a:ext>
              <a:ext uri="{28A0092B-C50C-407E-A947-70E740481C1C}">
                <a14:useLocalDpi xmlns:a14="http://schemas.microsoft.com/office/drawing/2010/main" val="0"/>
              </a:ext>
            </a:extLst>
          </a:blip>
          <a:srcRect l="32197" t="63300" r="33485" b="17037"/>
          <a:stretch/>
        </p:blipFill>
        <p:spPr>
          <a:xfrm>
            <a:off x="7840099" y="2916011"/>
            <a:ext cx="1101020" cy="354853"/>
          </a:xfrm>
          <a:prstGeom prst="rect">
            <a:avLst/>
          </a:prstGeom>
        </p:spPr>
      </p:pic>
      <p:pic>
        <p:nvPicPr>
          <p:cNvPr id="15" name="Picture 14"/>
          <p:cNvPicPr>
            <a:picLocks noChangeAspect="1"/>
          </p:cNvPicPr>
          <p:nvPr/>
        </p:nvPicPr>
        <p:blipFill rotWithShape="1">
          <a:blip r:embed="rId14" cstate="print">
            <a:extLst>
              <a:ext uri="{28A0092B-C50C-407E-A947-70E740481C1C}">
                <a14:useLocalDpi xmlns:a14="http://schemas.microsoft.com/office/drawing/2010/main" val="0"/>
              </a:ext>
            </a:extLst>
          </a:blip>
          <a:srcRect l="76" t="-705" r="77576" b="705"/>
          <a:stretch/>
        </p:blipFill>
        <p:spPr>
          <a:xfrm>
            <a:off x="9693201" y="1542412"/>
            <a:ext cx="1171251" cy="1127922"/>
          </a:xfrm>
          <a:prstGeom prst="rect">
            <a:avLst/>
          </a:prstGeom>
        </p:spPr>
      </p:pic>
      <p:sp>
        <p:nvSpPr>
          <p:cNvPr id="16" name="Oval 15"/>
          <p:cNvSpPr/>
          <p:nvPr/>
        </p:nvSpPr>
        <p:spPr>
          <a:xfrm>
            <a:off x="9521686" y="1377953"/>
            <a:ext cx="1518833" cy="1456840"/>
          </a:xfrm>
          <a:prstGeom prst="ellipse">
            <a:avLst/>
          </a:pr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rotWithShape="1">
          <a:blip r:embed="rId15" cstate="print">
            <a:lum bright="70000" contrast="-70000"/>
            <a:extLst>
              <a:ext uri="{28A0092B-C50C-407E-A947-70E740481C1C}">
                <a14:useLocalDpi xmlns:a14="http://schemas.microsoft.com/office/drawing/2010/main" val="0"/>
              </a:ext>
            </a:extLst>
          </a:blip>
          <a:srcRect l="24848"/>
          <a:stretch/>
        </p:blipFill>
        <p:spPr>
          <a:xfrm>
            <a:off x="9693201" y="2925305"/>
            <a:ext cx="1208903" cy="346203"/>
          </a:xfrm>
          <a:prstGeom prst="rect">
            <a:avLst/>
          </a:prstGeom>
        </p:spPr>
      </p:pic>
      <p:sp>
        <p:nvSpPr>
          <p:cNvPr id="20" name="Rectangle 19"/>
          <p:cNvSpPr/>
          <p:nvPr/>
        </p:nvSpPr>
        <p:spPr>
          <a:xfrm>
            <a:off x="1266878" y="181252"/>
            <a:ext cx="9543522" cy="646331"/>
          </a:xfrm>
          <a:prstGeom prst="rect">
            <a:avLst/>
          </a:prstGeom>
        </p:spPr>
        <p:txBody>
          <a:bodyPr wrap="square">
            <a:spAutoFit/>
          </a:bodyPr>
          <a:lstStyle/>
          <a:p>
            <a:r>
              <a:rPr lang="en-ID" sz="3600" dirty="0">
                <a:solidFill>
                  <a:schemeClr val="bg1"/>
                </a:solidFill>
                <a:latin typeface="Bodoni MT Black" panose="02070A03080606020203" pitchFamily="18" charset="0"/>
                <a:ea typeface="Arial Unicode MS" panose="020B0604020202020204" pitchFamily="34" charset="-128"/>
                <a:cs typeface="Arial Unicode MS" panose="020B0604020202020204" pitchFamily="34" charset="-128"/>
              </a:rPr>
              <a:t>How Student use AI in Daily Learning?</a:t>
            </a:r>
            <a:endParaRPr lang="en-US" sz="3600" dirty="0">
              <a:solidFill>
                <a:schemeClr val="bg1"/>
              </a:solidFill>
              <a:latin typeface="Bodoni MT Black" panose="02070A03080606020203" pitchFamily="18" charset="0"/>
              <a:ea typeface="Arial Unicode MS" panose="020B0604020202020204" pitchFamily="34" charset="-128"/>
              <a:cs typeface="Arial Unicode MS" panose="020B0604020202020204" pitchFamily="34" charset="-128"/>
            </a:endParaRPr>
          </a:p>
        </p:txBody>
      </p:sp>
      <p:sp>
        <p:nvSpPr>
          <p:cNvPr id="22" name="Rectangle 21"/>
          <p:cNvSpPr/>
          <p:nvPr/>
        </p:nvSpPr>
        <p:spPr>
          <a:xfrm>
            <a:off x="206925" y="4337610"/>
            <a:ext cx="2521203" cy="369332"/>
          </a:xfrm>
          <a:prstGeom prst="rect">
            <a:avLst/>
          </a:prstGeom>
        </p:spPr>
        <p:txBody>
          <a:bodyPr wrap="squar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To Do Assignments </a:t>
            </a:r>
            <a:endParaRPr lang="en-US" dirty="0">
              <a:solidFill>
                <a:schemeClr val="bg1"/>
              </a:solidFill>
              <a:latin typeface="Palatino Linotype" panose="02040502050505030304" pitchFamily="18" charset="0"/>
            </a:endParaRPr>
          </a:p>
        </p:txBody>
      </p:sp>
      <p:pic>
        <p:nvPicPr>
          <p:cNvPr id="23" name="Picture 2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821119" y="3487119"/>
            <a:ext cx="3370881" cy="3370881"/>
          </a:xfrm>
          <a:prstGeom prst="rect">
            <a:avLst/>
          </a:prstGeom>
        </p:spPr>
      </p:pic>
      <p:sp>
        <p:nvSpPr>
          <p:cNvPr id="24" name="Rectangle 23"/>
          <p:cNvSpPr/>
          <p:nvPr/>
        </p:nvSpPr>
        <p:spPr>
          <a:xfrm>
            <a:off x="206925" y="4902970"/>
            <a:ext cx="2996333" cy="369332"/>
          </a:xfrm>
          <a:prstGeom prst="rect">
            <a:avLst/>
          </a:prstGeom>
        </p:spPr>
        <p:txBody>
          <a:bodyPr wrap="non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Summarize the Material </a:t>
            </a:r>
            <a:endParaRPr lang="en-US" dirty="0">
              <a:solidFill>
                <a:schemeClr val="bg1"/>
              </a:solidFill>
              <a:latin typeface="Palatino Linotype" panose="02040502050505030304" pitchFamily="18" charset="0"/>
            </a:endParaRPr>
          </a:p>
        </p:txBody>
      </p:sp>
      <p:sp>
        <p:nvSpPr>
          <p:cNvPr id="25" name="Rectangle 24"/>
          <p:cNvSpPr/>
          <p:nvPr/>
        </p:nvSpPr>
        <p:spPr>
          <a:xfrm>
            <a:off x="225167" y="3809164"/>
            <a:ext cx="1977529" cy="369332"/>
          </a:xfrm>
          <a:prstGeom prst="rect">
            <a:avLst/>
          </a:prstGeom>
        </p:spPr>
        <p:txBody>
          <a:bodyPr wrap="non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rPr>
              <a:t>Write an Essay</a:t>
            </a:r>
            <a:endParaRPr lang="en-US" dirty="0">
              <a:solidFill>
                <a:schemeClr val="bg1"/>
              </a:solidFill>
              <a:latin typeface="Palatino Linotype" panose="02040502050505030304" pitchFamily="18" charset="0"/>
            </a:endParaRPr>
          </a:p>
        </p:txBody>
      </p:sp>
      <p:sp>
        <p:nvSpPr>
          <p:cNvPr id="26" name="Rectangle 25"/>
          <p:cNvSpPr/>
          <p:nvPr/>
        </p:nvSpPr>
        <p:spPr>
          <a:xfrm>
            <a:off x="206925" y="5458816"/>
            <a:ext cx="5249790" cy="369332"/>
          </a:xfrm>
          <a:prstGeom prst="rect">
            <a:avLst/>
          </a:prstGeom>
        </p:spPr>
        <p:txBody>
          <a:bodyPr wrap="square">
            <a:spAutoFit/>
          </a:bodyPr>
          <a:lstStyle/>
          <a:p>
            <a:pPr marL="285750" indent="-285750">
              <a:buFont typeface="Arial" panose="020B0604020202020204" pitchFamily="34" charset="0"/>
              <a:buChar char="•"/>
            </a:pPr>
            <a:r>
              <a:rPr lang="en-ID" dirty="0">
                <a:solidFill>
                  <a:schemeClr val="bg1"/>
                </a:solidFill>
                <a:latin typeface="Palatino Linotype" panose="02040502050505030304" pitchFamily="18" charset="0"/>
                <a:ea typeface="Cascadia Code" panose="020B0609020000020004" pitchFamily="49" charset="0"/>
                <a:cs typeface="Cascadia Code" panose="020B0609020000020004" pitchFamily="49" charset="0"/>
              </a:rPr>
              <a:t>Ask Questions That They Don’t Understand  </a:t>
            </a:r>
            <a:endParaRPr lang="en-US" dirty="0">
              <a:solidFill>
                <a:schemeClr val="bg1"/>
              </a:solidFill>
              <a:latin typeface="Palatino Linotype" panose="02040502050505030304" pitchFamily="18" charset="0"/>
              <a:ea typeface="Cascadia Code" panose="020B0609020000020004" pitchFamily="49" charset="0"/>
              <a:cs typeface="Cascadia Code" panose="020B0609020000020004" pitchFamily="49" charset="0"/>
            </a:endParaRPr>
          </a:p>
        </p:txBody>
      </p:sp>
      <p:sp>
        <p:nvSpPr>
          <p:cNvPr id="35" name="Rounded Rectangle 34"/>
          <p:cNvSpPr/>
          <p:nvPr/>
        </p:nvSpPr>
        <p:spPr>
          <a:xfrm rot="18980827">
            <a:off x="11638310" y="-873608"/>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260575" y="-344659"/>
            <a:ext cx="1443789" cy="1415851"/>
            <a:chOff x="-260575" y="-344659"/>
            <a:chExt cx="1443789" cy="1415851"/>
          </a:xfrm>
        </p:grpSpPr>
        <p:sp>
          <p:nvSpPr>
            <p:cNvPr id="18" name="Oval 17"/>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p:cNvSpPr/>
          <p:nvPr/>
        </p:nvSpPr>
        <p:spPr>
          <a:xfrm>
            <a:off x="0" y="3378467"/>
            <a:ext cx="5139892" cy="1086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p:cNvSpPr/>
          <p:nvPr/>
        </p:nvSpPr>
        <p:spPr>
          <a:xfrm>
            <a:off x="5138934" y="3378956"/>
            <a:ext cx="7053066" cy="1086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21" name="Group 20"/>
          <p:cNvGrpSpPr/>
          <p:nvPr/>
        </p:nvGrpSpPr>
        <p:grpSpPr>
          <a:xfrm>
            <a:off x="-1050516" y="5859681"/>
            <a:ext cx="2529844" cy="2504456"/>
            <a:chOff x="-1050516" y="5859681"/>
            <a:chExt cx="2529844" cy="2504456"/>
          </a:xfrm>
        </p:grpSpPr>
        <p:sp>
          <p:nvSpPr>
            <p:cNvPr id="52" name="Oval 51"/>
            <p:cNvSpPr/>
            <p:nvPr/>
          </p:nvSpPr>
          <p:spPr>
            <a:xfrm>
              <a:off x="-1050516" y="5859681"/>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40836" y="6200503"/>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1038969"/>
      </p:ext>
    </p:extLst>
  </p:cSld>
  <p:clrMapOvr>
    <a:masterClrMapping/>
  </p:clrMapOvr>
  <p:transition spd="slow">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childTnLst>
                          </p:cTn>
                        </p:par>
                        <p:par>
                          <p:cTn id="30" fill="hold">
                            <p:stCondLst>
                              <p:cond delay="500"/>
                            </p:stCondLst>
                            <p:childTnLst>
                              <p:par>
                                <p:cTn id="31" presetID="42" presetClass="entr" presetSubtype="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anim calcmode="lin" valueType="num">
                                      <p:cBhvr>
                                        <p:cTn id="34" dur="500" fill="hold"/>
                                        <p:tgtEl>
                                          <p:spTgt spid="4"/>
                                        </p:tgtEl>
                                        <p:attrNameLst>
                                          <p:attrName>ppt_x</p:attrName>
                                        </p:attrNameLst>
                                      </p:cBhvr>
                                      <p:tavLst>
                                        <p:tav tm="0">
                                          <p:val>
                                            <p:strVal val="#ppt_x"/>
                                          </p:val>
                                        </p:tav>
                                        <p:tav tm="100000">
                                          <p:val>
                                            <p:strVal val="#ppt_x"/>
                                          </p:val>
                                        </p:tav>
                                      </p:tavLst>
                                    </p:anim>
                                    <p:anim calcmode="lin" valueType="num">
                                      <p:cBhvr>
                                        <p:cTn id="35" dur="500" fill="hold"/>
                                        <p:tgtEl>
                                          <p:spTgt spid="4"/>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fill="hold"/>
                                        <p:tgtEl>
                                          <p:spTgt spid="8"/>
                                        </p:tgtEl>
                                        <p:attrNameLst>
                                          <p:attrName>ppt_x</p:attrName>
                                        </p:attrNameLst>
                                      </p:cBhvr>
                                      <p:tavLst>
                                        <p:tav tm="0">
                                          <p:val>
                                            <p:strVal val="#ppt_x"/>
                                          </p:val>
                                        </p:tav>
                                        <p:tav tm="100000">
                                          <p:val>
                                            <p:strVal val="#ppt_x"/>
                                          </p:val>
                                        </p:tav>
                                      </p:tavLst>
                                    </p:anim>
                                    <p:anim calcmode="lin" valueType="num">
                                      <p:cBhvr>
                                        <p:cTn id="40" dur="500" fill="hold"/>
                                        <p:tgtEl>
                                          <p:spTgt spid="8"/>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anim calcmode="lin" valueType="num">
                                      <p:cBhvr>
                                        <p:cTn id="44" dur="500" fill="hold"/>
                                        <p:tgtEl>
                                          <p:spTgt spid="2"/>
                                        </p:tgtEl>
                                        <p:attrNameLst>
                                          <p:attrName>ppt_x</p:attrName>
                                        </p:attrNameLst>
                                      </p:cBhvr>
                                      <p:tavLst>
                                        <p:tav tm="0">
                                          <p:val>
                                            <p:strVal val="#ppt_x"/>
                                          </p:val>
                                        </p:tav>
                                        <p:tav tm="100000">
                                          <p:val>
                                            <p:strVal val="#ppt_x"/>
                                          </p:val>
                                        </p:tav>
                                      </p:tavLst>
                                    </p:anim>
                                    <p:anim calcmode="lin" valueType="num">
                                      <p:cBhvr>
                                        <p:cTn id="45" dur="500" fill="hold"/>
                                        <p:tgtEl>
                                          <p:spTgt spid="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p:cTn id="54" dur="500" fill="hold"/>
                                        <p:tgtEl>
                                          <p:spTgt spid="15"/>
                                        </p:tgtEl>
                                        <p:attrNameLst>
                                          <p:attrName>ppt_x</p:attrName>
                                        </p:attrNameLst>
                                      </p:cBhvr>
                                      <p:tavLst>
                                        <p:tav tm="0">
                                          <p:val>
                                            <p:strVal val="#ppt_x"/>
                                          </p:val>
                                        </p:tav>
                                        <p:tav tm="100000">
                                          <p:val>
                                            <p:strVal val="#ppt_x"/>
                                          </p:val>
                                        </p:tav>
                                      </p:tavLst>
                                    </p:anim>
                                    <p:anim calcmode="lin" valueType="num">
                                      <p:cBhvr>
                                        <p:cTn id="55" dur="500" fill="hold"/>
                                        <p:tgtEl>
                                          <p:spTgt spid="15"/>
                                        </p:tgtEl>
                                        <p:attrNameLst>
                                          <p:attrName>ppt_y</p:attrName>
                                        </p:attrNameLst>
                                      </p:cBhvr>
                                      <p:tavLst>
                                        <p:tav tm="0">
                                          <p:val>
                                            <p:strVal val="#ppt_y+.1"/>
                                          </p:val>
                                        </p:tav>
                                        <p:tav tm="100000">
                                          <p:val>
                                            <p:strVal val="#ppt_y"/>
                                          </p:val>
                                        </p:tav>
                                      </p:tavLst>
                                    </p:anim>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fade">
                                      <p:cBhvr>
                                        <p:cTn id="59" dur="500"/>
                                        <p:tgtEl>
                                          <p:spTgt spid="6"/>
                                        </p:tgtEl>
                                      </p:cBhvr>
                                    </p:animEffect>
                                  </p:childTnLst>
                                </p:cTn>
                              </p:par>
                              <p:par>
                                <p:cTn id="60" presetID="10" presetClass="entr" presetSubtype="0" fill="hold"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childTnLst>
                                </p:cTn>
                              </p:par>
                              <p:par>
                                <p:cTn id="63" presetID="10" presetClass="entr" presetSubtype="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fade">
                                      <p:cBhvr>
                                        <p:cTn id="65" dur="500"/>
                                        <p:tgtEl>
                                          <p:spTgt spid="5"/>
                                        </p:tgtEl>
                                      </p:cBhvr>
                                    </p:animEffect>
                                  </p:childTnLst>
                                </p:cTn>
                              </p:par>
                              <p:par>
                                <p:cTn id="66" presetID="10" presetClass="entr" presetSubtype="0" fill="hold"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10" presetClass="entr" presetSubtype="0"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500"/>
                                        <p:tgtEl>
                                          <p:spTgt spid="31"/>
                                        </p:tgtEl>
                                      </p:cBhvr>
                                    </p:animEffect>
                                  </p:childTnLst>
                                </p:cTn>
                              </p:par>
                            </p:childTnLst>
                          </p:cTn>
                        </p:par>
                        <p:par>
                          <p:cTn id="81" fill="hold">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wipe(left)">
                                      <p:cBhvr>
                                        <p:cTn id="84" dur="500"/>
                                        <p:tgtEl>
                                          <p:spTgt spid="32"/>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wipe(left)">
                                      <p:cBhvr>
                                        <p:cTn id="87" dur="1000"/>
                                        <p:tgtEl>
                                          <p:spTgt spid="33"/>
                                        </p:tgtEl>
                                      </p:cBhvr>
                                    </p:animEffect>
                                  </p:childTnLst>
                                </p:cTn>
                              </p:par>
                            </p:childTnLst>
                          </p:cTn>
                        </p:par>
                        <p:par>
                          <p:cTn id="88" fill="hold">
                            <p:stCondLst>
                              <p:cond delay="1500"/>
                            </p:stCondLst>
                            <p:childTnLst>
                              <p:par>
                                <p:cTn id="89" presetID="22" presetClass="entr" presetSubtype="8" fill="hold" grpId="0" nodeType="after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3" grpId="0" animBg="1"/>
      <p:bldP spid="32" grpId="0" animBg="1"/>
      <p:bldP spid="31" grpId="0" animBg="1"/>
      <p:bldP spid="6" grpId="0"/>
      <p:bldP spid="7" grpId="0" animBg="1"/>
      <p:bldP spid="10" grpId="0" animBg="1"/>
      <p:bldP spid="11" grpId="0" animBg="1"/>
      <p:bldP spid="13"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ounded Rectangle 26"/>
          <p:cNvSpPr/>
          <p:nvPr/>
        </p:nvSpPr>
        <p:spPr>
          <a:xfrm>
            <a:off x="748559" y="206348"/>
            <a:ext cx="4735298" cy="844952"/>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48559" y="336451"/>
            <a:ext cx="4791919" cy="523220"/>
          </a:xfrm>
          <a:prstGeom prst="rect">
            <a:avLst/>
          </a:prstGeom>
          <a:noFill/>
        </p:spPr>
        <p:txBody>
          <a:bodyPr wrap="square" rtlCol="0">
            <a:spAutoFit/>
          </a:bodyPr>
          <a:lstStyle/>
          <a:p>
            <a:r>
              <a:rPr lang="en-ID" sz="2800" dirty="0">
                <a:solidFill>
                  <a:schemeClr val="bg1"/>
                </a:solidFill>
                <a:latin typeface="Sitka Small Semibold" pitchFamily="2" charset="0"/>
              </a:rPr>
              <a:t>POSITIVE IMPACT OF AI</a:t>
            </a:r>
            <a:endParaRPr lang="en-US" sz="2800" dirty="0">
              <a:solidFill>
                <a:schemeClr val="bg1"/>
              </a:solidFill>
              <a:latin typeface="Sitka Small Semibold" pitchFamily="2" charset="0"/>
            </a:endParaRPr>
          </a:p>
        </p:txBody>
      </p:sp>
      <p:sp>
        <p:nvSpPr>
          <p:cNvPr id="6" name="Rectangle 5"/>
          <p:cNvSpPr/>
          <p:nvPr/>
        </p:nvSpPr>
        <p:spPr>
          <a:xfrm>
            <a:off x="31495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3223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22071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6126479" y="2722880"/>
            <a:ext cx="2590801" cy="3667760"/>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100075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p:cNvSpPr/>
          <p:nvPr/>
        </p:nvSpPr>
        <p:spPr>
          <a:xfrm>
            <a:off x="390651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p:cNvSpPr/>
          <p:nvPr/>
        </p:nvSpPr>
        <p:spPr>
          <a:xfrm>
            <a:off x="971803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p:cNvSpPr/>
          <p:nvPr/>
        </p:nvSpPr>
        <p:spPr>
          <a:xfrm>
            <a:off x="6812279" y="2087880"/>
            <a:ext cx="1219200" cy="1270000"/>
          </a:xfrm>
          <a:prstGeom prst="diamond">
            <a:avLst/>
          </a:prstGeom>
          <a:solidFill>
            <a:schemeClr val="bg1"/>
          </a:solidFill>
          <a:ln w="76200">
            <a:solidFill>
              <a:srgbClr val="1A41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cstate="print">
            <a:extLst>
              <a:ext uri="{BEBA8EAE-BF5A-486C-A8C5-ECC9F3942E4B}">
                <a14:imgProps xmlns:a14="http://schemas.microsoft.com/office/drawing/2010/main">
                  <a14:imgLayer r:embed="rId3">
                    <a14:imgEffect>
                      <a14:backgroundRemoval t="1119" b="97763" l="0" r="97907">
                        <a14:foregroundMark x1="13140" y1="30201" x2="13140" y2="30201"/>
                        <a14:foregroundMark x1="71395" y1="17673" x2="71395" y2="17673"/>
                        <a14:foregroundMark x1="68605" y1="23378" x2="68605" y2="23378"/>
                        <a14:foregroundMark x1="83256" y1="22931" x2="83256" y2="22931"/>
                        <a14:foregroundMark x1="79419" y1="7830" x2="79419" y2="7830"/>
                        <a14:foregroundMark x1="75698" y1="13087" x2="75698" y2="13087"/>
                        <a14:foregroundMark x1="59186" y1="87584" x2="59186" y2="87584"/>
                        <a14:foregroundMark x1="74535" y1="83893" x2="74535" y2="83893"/>
                        <a14:foregroundMark x1="84186" y1="74720" x2="84186" y2="74720"/>
                        <a14:foregroundMark x1="90233" y1="62975" x2="90233" y2="62975"/>
                        <a14:foregroundMark x1="90814" y1="50112" x2="90814" y2="50112"/>
                        <a14:foregroundMark x1="89884" y1="37360" x2="89884" y2="37360"/>
                        <a14:foregroundMark x1="50116" y1="49888" x2="50116" y2="49888"/>
                      </a14:backgroundRemoval>
                    </a14:imgEffect>
                  </a14:imgLayer>
                </a14:imgProps>
              </a:ext>
              <a:ext uri="{28A0092B-C50C-407E-A947-70E740481C1C}">
                <a14:useLocalDpi xmlns:a14="http://schemas.microsoft.com/office/drawing/2010/main" val="0"/>
              </a:ext>
            </a:extLst>
          </a:blip>
          <a:stretch>
            <a:fillRect/>
          </a:stretch>
        </p:blipFill>
        <p:spPr>
          <a:xfrm>
            <a:off x="1363694" y="2464257"/>
            <a:ext cx="497574" cy="517246"/>
          </a:xfrm>
          <a:prstGeom prst="rect">
            <a:avLst/>
          </a:prstGeom>
        </p:spPr>
      </p:pic>
      <p:sp>
        <p:nvSpPr>
          <p:cNvPr id="18" name="TextBox 17"/>
          <p:cNvSpPr txBox="1"/>
          <p:nvPr/>
        </p:nvSpPr>
        <p:spPr>
          <a:xfrm>
            <a:off x="396239" y="3357880"/>
            <a:ext cx="2346961" cy="707886"/>
          </a:xfrm>
          <a:prstGeom prst="rect">
            <a:avLst/>
          </a:prstGeom>
          <a:noFill/>
        </p:spPr>
        <p:txBody>
          <a:bodyPr wrap="square" rtlCol="0">
            <a:spAutoFit/>
          </a:bodyPr>
          <a:lstStyle/>
          <a:p>
            <a:pPr algn="ctr"/>
            <a:r>
              <a:rPr lang="en-ID" sz="2000" dirty="0">
                <a:solidFill>
                  <a:schemeClr val="bg1"/>
                </a:solidFill>
                <a:latin typeface="Franklin Gothic Heavy" panose="020B0903020102020204" pitchFamily="34" charset="0"/>
              </a:rPr>
              <a:t>Improve Learning Efficiency</a:t>
            </a:r>
            <a:endParaRPr lang="en-US" sz="2000" dirty="0">
              <a:solidFill>
                <a:schemeClr val="bg1"/>
              </a:solidFill>
              <a:latin typeface="Franklin Gothic Heavy" panose="020B0903020102020204" pitchFamily="34" charset="0"/>
            </a:endParaRPr>
          </a:p>
        </p:txBody>
      </p:sp>
      <p:sp>
        <p:nvSpPr>
          <p:cNvPr id="19" name="TextBox 18"/>
          <p:cNvSpPr txBox="1"/>
          <p:nvPr/>
        </p:nvSpPr>
        <p:spPr>
          <a:xfrm>
            <a:off x="3144519" y="3357880"/>
            <a:ext cx="2743200" cy="707886"/>
          </a:xfrm>
          <a:prstGeom prst="rect">
            <a:avLst/>
          </a:prstGeom>
          <a:noFill/>
        </p:spPr>
        <p:txBody>
          <a:bodyPr wrap="square" rtlCol="0">
            <a:spAutoFit/>
          </a:bodyPr>
          <a:lstStyle/>
          <a:p>
            <a:pPr algn="ctr"/>
            <a:r>
              <a:rPr lang="en-ID" sz="2000" dirty="0">
                <a:solidFill>
                  <a:schemeClr val="bg1"/>
                </a:solidFill>
                <a:latin typeface="Franklin Gothic Heavy" panose="020B0903020102020204" pitchFamily="34" charset="0"/>
              </a:rPr>
              <a:t>Helps Understand Complex Concepts</a:t>
            </a:r>
            <a:endParaRPr lang="en-US" sz="2000" dirty="0">
              <a:solidFill>
                <a:schemeClr val="bg1"/>
              </a:solidFill>
              <a:latin typeface="Franklin Gothic Heavy" panose="020B0903020102020204" pitchFamily="34" charset="0"/>
            </a:endParaRPr>
          </a:p>
        </p:txBody>
      </p:sp>
      <p:pic>
        <p:nvPicPr>
          <p:cNvPr id="20" name="Picture 19"/>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66168" y1="44565" x2="66168" y2="44565"/>
                        <a14:foregroundMark x1="77446" y1="50951" x2="77446" y2="50951"/>
                        <a14:foregroundMark x1="23234" y1="58424" x2="23234" y2="58424"/>
                      </a14:backgroundRemoval>
                    </a14:imgEffect>
                  </a14:imgLayer>
                </a14:imgProps>
              </a:ext>
              <a:ext uri="{28A0092B-C50C-407E-A947-70E740481C1C}">
                <a14:useLocalDpi xmlns:a14="http://schemas.microsoft.com/office/drawing/2010/main" val="0"/>
              </a:ext>
            </a:extLst>
          </a:blip>
          <a:stretch>
            <a:fillRect/>
          </a:stretch>
        </p:blipFill>
        <p:spPr>
          <a:xfrm>
            <a:off x="4031762" y="2237154"/>
            <a:ext cx="971451" cy="971451"/>
          </a:xfrm>
          <a:prstGeom prst="rect">
            <a:avLst/>
          </a:prstGeom>
        </p:spPr>
      </p:pic>
      <p:pic>
        <p:nvPicPr>
          <p:cNvPr id="21" name="Picture 20"/>
          <p:cNvPicPr>
            <a:picLocks noChangeAspect="1"/>
          </p:cNvPicPr>
          <p:nvPr/>
        </p:nvPicPr>
        <p:blipFill>
          <a:blip r:embed="rId6" cstate="print">
            <a:extLst>
              <a:ext uri="{BEBA8EAE-BF5A-486C-A8C5-ECC9F3942E4B}">
                <a14:imgProps xmlns:a14="http://schemas.microsoft.com/office/drawing/2010/main">
                  <a14:imgLayer r:embed="rId7">
                    <a14:imgEffect>
                      <a14:backgroundRemoval t="10000" b="90000" l="10000" r="90000">
                        <a14:foregroundMark x1="58750" y1="34375" x2="58750" y2="34375"/>
                      </a14:backgroundRemoval>
                    </a14:imgEffect>
                  </a14:imgLayer>
                </a14:imgProps>
              </a:ext>
              <a:ext uri="{28A0092B-C50C-407E-A947-70E740481C1C}">
                <a14:useLocalDpi xmlns:a14="http://schemas.microsoft.com/office/drawing/2010/main" val="0"/>
              </a:ext>
            </a:extLst>
          </a:blip>
          <a:stretch>
            <a:fillRect/>
          </a:stretch>
        </p:blipFill>
        <p:spPr>
          <a:xfrm>
            <a:off x="7091679" y="2326868"/>
            <a:ext cx="654635" cy="654635"/>
          </a:xfrm>
          <a:prstGeom prst="rect">
            <a:avLst/>
          </a:prstGeom>
        </p:spPr>
      </p:pic>
      <p:pic>
        <p:nvPicPr>
          <p:cNvPr id="22" name="Picture 21"/>
          <p:cNvPicPr>
            <a:picLocks noChangeAspect="1"/>
          </p:cNvPicPr>
          <p:nvPr/>
        </p:nvPicPr>
        <p:blipFill>
          <a:blip r:embed="rId8" cstate="print">
            <a:extLst>
              <a:ext uri="{BEBA8EAE-BF5A-486C-A8C5-ECC9F3942E4B}">
                <a14:imgProps xmlns:a14="http://schemas.microsoft.com/office/drawing/2010/main">
                  <a14:imgLayer r:embed="rId9">
                    <a14:imgEffect>
                      <a14:backgroundRemoval t="10000" b="90000" l="10000" r="90000">
                        <a14:foregroundMark x1="48092" y1="70611" x2="48092" y2="70611"/>
                        <a14:foregroundMark x1="49237" y1="80916" x2="49237" y2="80916"/>
                        <a14:foregroundMark x1="45038" y1="62214" x2="45038" y2="62214"/>
                        <a14:foregroundMark x1="25573" y1="37405" x2="25573" y2="37405"/>
                        <a14:foregroundMark x1="28626" y1="29389" x2="28626" y2="29389"/>
                        <a14:foregroundMark x1="32824" y1="20611" x2="32824" y2="20611"/>
                        <a14:foregroundMark x1="40458" y1="16412" x2="40458" y2="16412"/>
                        <a14:foregroundMark x1="49618" y1="14885" x2="49618" y2="14885"/>
                        <a14:foregroundMark x1="58779" y1="17176" x2="58779" y2="17176"/>
                        <a14:foregroundMark x1="67176" y1="20611" x2="67176" y2="20611"/>
                        <a14:foregroundMark x1="71756" y1="29008" x2="71756" y2="29008"/>
                        <a14:foregroundMark x1="75191" y1="37405" x2="75191" y2="37405"/>
                        <a14:backgroundMark x1="37405" y1="41985" x2="37405" y2="41985"/>
                        <a14:backgroundMark x1="38168" y1="32443" x2="38168" y2="32443"/>
                        <a14:backgroundMark x1="45038" y1="53817" x2="45038" y2="53817"/>
                        <a14:backgroundMark x1="62595" y1="37405" x2="62595" y2="37405"/>
                      </a14:backgroundRemoval>
                    </a14:imgEffect>
                  </a14:imgLayer>
                </a14:imgProps>
              </a:ext>
              <a:ext uri="{28A0092B-C50C-407E-A947-70E740481C1C}">
                <a14:useLocalDpi xmlns:a14="http://schemas.microsoft.com/office/drawing/2010/main" val="0"/>
              </a:ext>
            </a:extLst>
          </a:blip>
          <a:stretch>
            <a:fillRect/>
          </a:stretch>
        </p:blipFill>
        <p:spPr>
          <a:xfrm>
            <a:off x="9782517" y="2179321"/>
            <a:ext cx="1090244" cy="1090244"/>
          </a:xfrm>
          <a:prstGeom prst="rect">
            <a:avLst/>
          </a:prstGeom>
        </p:spPr>
      </p:pic>
      <p:sp>
        <p:nvSpPr>
          <p:cNvPr id="25" name="Rectangle 24"/>
          <p:cNvSpPr/>
          <p:nvPr/>
        </p:nvSpPr>
        <p:spPr>
          <a:xfrm>
            <a:off x="6221773" y="3357879"/>
            <a:ext cx="2394446" cy="707886"/>
          </a:xfrm>
          <a:prstGeom prst="rect">
            <a:avLst/>
          </a:prstGeom>
        </p:spPr>
        <p:txBody>
          <a:bodyPr wrap="square">
            <a:spAutoFit/>
          </a:bodyPr>
          <a:lstStyle/>
          <a:p>
            <a:pPr algn="ctr"/>
            <a:r>
              <a:rPr lang="en-ID" sz="2000" dirty="0">
                <a:solidFill>
                  <a:schemeClr val="bg1"/>
                </a:solidFill>
                <a:latin typeface="Franklin Gothic Heavy" panose="020B0903020102020204" pitchFamily="34" charset="0"/>
              </a:rPr>
              <a:t>Personalized Learning</a:t>
            </a:r>
            <a:endParaRPr lang="en-US" sz="2000" dirty="0">
              <a:solidFill>
                <a:schemeClr val="bg1"/>
              </a:solidFill>
              <a:latin typeface="Franklin Gothic Heavy" panose="020B0903020102020204" pitchFamily="34" charset="0"/>
            </a:endParaRPr>
          </a:p>
        </p:txBody>
      </p:sp>
      <p:sp>
        <p:nvSpPr>
          <p:cNvPr id="26" name="Rectangle 25"/>
          <p:cNvSpPr/>
          <p:nvPr/>
        </p:nvSpPr>
        <p:spPr>
          <a:xfrm>
            <a:off x="9130416" y="3357879"/>
            <a:ext cx="2394446" cy="707886"/>
          </a:xfrm>
          <a:prstGeom prst="rect">
            <a:avLst/>
          </a:prstGeom>
        </p:spPr>
        <p:txBody>
          <a:bodyPr wrap="square">
            <a:spAutoFit/>
          </a:bodyPr>
          <a:lstStyle/>
          <a:p>
            <a:pPr algn="ctr"/>
            <a:r>
              <a:rPr lang="en-ID" sz="2000" dirty="0">
                <a:solidFill>
                  <a:schemeClr val="bg1"/>
                </a:solidFill>
                <a:latin typeface="Franklin Gothic Heavy" panose="020B0903020102020204" pitchFamily="34" charset="0"/>
              </a:rPr>
              <a:t>Help Ideas and Creativity</a:t>
            </a:r>
            <a:endParaRPr lang="en-US" sz="2000" dirty="0">
              <a:solidFill>
                <a:schemeClr val="bg1"/>
              </a:solidFill>
              <a:latin typeface="Franklin Gothic Heavy" panose="020B0903020102020204" pitchFamily="34" charset="0"/>
            </a:endParaRPr>
          </a:p>
        </p:txBody>
      </p:sp>
      <p:sp>
        <p:nvSpPr>
          <p:cNvPr id="32" name="Rectangle 31"/>
          <p:cNvSpPr/>
          <p:nvPr/>
        </p:nvSpPr>
        <p:spPr>
          <a:xfrm rot="18941903">
            <a:off x="11001046" y="-715117"/>
            <a:ext cx="518232" cy="3321089"/>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rot="18980827">
            <a:off x="10053098" y="73620"/>
            <a:ext cx="583908" cy="2147789"/>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flipH="1">
            <a:off x="469705" y="4100602"/>
            <a:ext cx="2281307" cy="1477328"/>
          </a:xfrm>
          <a:prstGeom prst="rect">
            <a:avLst/>
          </a:prstGeom>
          <a:noFill/>
        </p:spPr>
        <p:txBody>
          <a:bodyPr wrap="square" rtlCol="0">
            <a:spAutoFit/>
          </a:bodyPr>
          <a:lstStyle/>
          <a:p>
            <a:r>
              <a:rPr lang="en-ID" dirty="0">
                <a:solidFill>
                  <a:schemeClr val="bg1"/>
                </a:solidFill>
                <a:latin typeface="Arial" panose="020B0604020202020204" pitchFamily="34" charset="0"/>
                <a:cs typeface="Arial" panose="020B0604020202020204" pitchFamily="34" charset="0"/>
              </a:rPr>
              <a:t>AI can help search from various learning sources without having to search manually.</a:t>
            </a:r>
            <a:endParaRPr lang="en-US" dirty="0">
              <a:solidFill>
                <a:schemeClr val="bg1"/>
              </a:solidFill>
              <a:latin typeface="Arial" panose="020B0604020202020204" pitchFamily="34" charset="0"/>
              <a:cs typeface="Arial" panose="020B0604020202020204" pitchFamily="34" charset="0"/>
            </a:endParaRPr>
          </a:p>
        </p:txBody>
      </p:sp>
      <p:sp>
        <p:nvSpPr>
          <p:cNvPr id="36" name="Rectangle 35"/>
          <p:cNvSpPr/>
          <p:nvPr/>
        </p:nvSpPr>
        <p:spPr>
          <a:xfrm>
            <a:off x="3376891" y="4141521"/>
            <a:ext cx="2378745" cy="1200329"/>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provide analogies and illustrations until students understand.</a:t>
            </a:r>
            <a:endParaRPr lang="en-US" dirty="0">
              <a:solidFill>
                <a:schemeClr val="bg1"/>
              </a:solidFill>
              <a:latin typeface="Arial" panose="020B0604020202020204" pitchFamily="34" charset="0"/>
              <a:cs typeface="Arial" panose="020B0604020202020204" pitchFamily="34" charset="0"/>
            </a:endParaRPr>
          </a:p>
        </p:txBody>
      </p:sp>
      <p:sp>
        <p:nvSpPr>
          <p:cNvPr id="37" name="Rectangle 36"/>
          <p:cNvSpPr/>
          <p:nvPr/>
        </p:nvSpPr>
        <p:spPr>
          <a:xfrm>
            <a:off x="6324602" y="4165719"/>
            <a:ext cx="2392678" cy="646331"/>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adapt the way students use it </a:t>
            </a:r>
            <a:endParaRPr lang="en-US" dirty="0">
              <a:solidFill>
                <a:schemeClr val="bg1"/>
              </a:solidFill>
              <a:latin typeface="Arial" panose="020B0604020202020204" pitchFamily="34" charset="0"/>
              <a:cs typeface="Arial" panose="020B0604020202020204" pitchFamily="34" charset="0"/>
            </a:endParaRPr>
          </a:p>
        </p:txBody>
      </p:sp>
      <p:sp>
        <p:nvSpPr>
          <p:cNvPr id="38" name="Rectangle 37"/>
          <p:cNvSpPr/>
          <p:nvPr/>
        </p:nvSpPr>
        <p:spPr>
          <a:xfrm>
            <a:off x="9230362" y="4086140"/>
            <a:ext cx="2392678" cy="923330"/>
          </a:xfrm>
          <a:prstGeom prst="rect">
            <a:avLst/>
          </a:prstGeom>
        </p:spPr>
        <p:txBody>
          <a:bodyPr wrap="square">
            <a:spAutoFit/>
          </a:bodyPr>
          <a:lstStyle/>
          <a:p>
            <a:r>
              <a:rPr lang="en-ID" dirty="0">
                <a:solidFill>
                  <a:schemeClr val="bg1"/>
                </a:solidFill>
                <a:latin typeface="Arial" panose="020B0604020202020204" pitchFamily="34" charset="0"/>
                <a:cs typeface="Arial" panose="020B0604020202020204" pitchFamily="34" charset="0"/>
              </a:rPr>
              <a:t>AI can help students get initial ideas and develop them</a:t>
            </a:r>
            <a:endParaRPr lang="en-US" dirty="0">
              <a:solidFill>
                <a:schemeClr val="bg1"/>
              </a:solidFill>
              <a:latin typeface="Arial" panose="020B0604020202020204" pitchFamily="34" charset="0"/>
              <a:cs typeface="Arial" panose="020B0604020202020204" pitchFamily="34" charset="0"/>
            </a:endParaRPr>
          </a:p>
        </p:txBody>
      </p:sp>
      <p:grpSp>
        <p:nvGrpSpPr>
          <p:cNvPr id="3" name="Group 2"/>
          <p:cNvGrpSpPr/>
          <p:nvPr/>
        </p:nvGrpSpPr>
        <p:grpSpPr>
          <a:xfrm>
            <a:off x="10053097" y="-715118"/>
            <a:ext cx="1735825" cy="3321089"/>
            <a:chOff x="10053097" y="-715118"/>
            <a:chExt cx="1735825" cy="3321089"/>
          </a:xfrm>
        </p:grpSpPr>
        <p:sp>
          <p:nvSpPr>
            <p:cNvPr id="30" name="Rectangle 29"/>
            <p:cNvSpPr/>
            <p:nvPr/>
          </p:nvSpPr>
          <p:spPr>
            <a:xfrm rot="18941903">
              <a:off x="11270690" y="-373485"/>
              <a:ext cx="518232" cy="1053501"/>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rot="18941903">
              <a:off x="11001045" y="-715118"/>
              <a:ext cx="518232" cy="3321089"/>
            </a:xfrm>
            <a:prstGeom prst="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rot="18980827">
              <a:off x="10053097" y="73619"/>
              <a:ext cx="583908" cy="2147789"/>
            </a:xfrm>
            <a:prstGeom prst="roundRect">
              <a:avLst/>
            </a:prstGeom>
            <a:solidFill>
              <a:srgbClr val="1A41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934685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par>
                          <p:cTn id="41"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up)">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ppt_y-.1"/>
                                          </p:val>
                                        </p:tav>
                                        <p:tav tm="100000">
                                          <p:val>
                                            <p:strVal val="#ppt_y"/>
                                          </p:val>
                                        </p:tav>
                                      </p:tavLst>
                                    </p:anim>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par>
                          <p:cTn id="68" fill="hold">
                            <p:stCondLst>
                              <p:cond delay="2000"/>
                            </p:stCondLst>
                            <p:childTnLst>
                              <p:par>
                                <p:cTn id="69" presetID="22" presetClass="entr" presetSubtype="1"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up)">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47" presetClass="entr" presetSubtype="0"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500"/>
                                        <p:tgtEl>
                                          <p:spTgt spid="10"/>
                                        </p:tgtEl>
                                      </p:cBhvr>
                                    </p:animEffect>
                                    <p:anim calcmode="lin" valueType="num">
                                      <p:cBhvr>
                                        <p:cTn id="77" dur="500" fill="hold"/>
                                        <p:tgtEl>
                                          <p:spTgt spid="10"/>
                                        </p:tgtEl>
                                        <p:attrNameLst>
                                          <p:attrName>ppt_x</p:attrName>
                                        </p:attrNameLst>
                                      </p:cBhvr>
                                      <p:tavLst>
                                        <p:tav tm="0">
                                          <p:val>
                                            <p:strVal val="#ppt_x"/>
                                          </p:val>
                                        </p:tav>
                                        <p:tav tm="100000">
                                          <p:val>
                                            <p:strVal val="#ppt_x"/>
                                          </p:val>
                                        </p:tav>
                                      </p:tavLst>
                                    </p:anim>
                                    <p:anim calcmode="lin" valueType="num">
                                      <p:cBhvr>
                                        <p:cTn id="78" dur="500" fill="hold"/>
                                        <p:tgtEl>
                                          <p:spTgt spid="10"/>
                                        </p:tgtEl>
                                        <p:attrNameLst>
                                          <p:attrName>ppt_y</p:attrName>
                                        </p:attrNameLst>
                                      </p:cBhvr>
                                      <p:tavLst>
                                        <p:tav tm="0">
                                          <p:val>
                                            <p:strVal val="#ppt_y-.1"/>
                                          </p:val>
                                        </p:tav>
                                        <p:tav tm="100000">
                                          <p:val>
                                            <p:strVal val="#ppt_y"/>
                                          </p:val>
                                        </p:tav>
                                      </p:tavLst>
                                    </p:anim>
                                  </p:childTnLst>
                                </p:cTn>
                              </p:par>
                            </p:childTnLst>
                          </p:cTn>
                        </p:par>
                        <p:par>
                          <p:cTn id="79" fill="hold">
                            <p:stCondLst>
                              <p:cond delay="500"/>
                            </p:stCondLst>
                            <p:childTnLst>
                              <p:par>
                                <p:cTn id="80" presetID="10" presetClass="entr" presetSubtype="0" fill="hold" grpId="0" nodeType="after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500"/>
                                        <p:tgtEl>
                                          <p:spTgt spid="15"/>
                                        </p:tgtEl>
                                      </p:cBhvr>
                                    </p:animEffect>
                                  </p:childTnLst>
                                </p:cTn>
                              </p:par>
                            </p:childTnLst>
                          </p:cTn>
                        </p:par>
                        <p:par>
                          <p:cTn id="83" fill="hold">
                            <p:stCondLst>
                              <p:cond delay="10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1500"/>
                            </p:stCondLst>
                            <p:childTnLst>
                              <p:par>
                                <p:cTn id="88" presetID="10"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00"/>
                                        <p:tgtEl>
                                          <p:spTgt spid="26"/>
                                        </p:tgtEl>
                                      </p:cBhvr>
                                    </p:animEffect>
                                  </p:childTnLst>
                                </p:cTn>
                              </p:par>
                            </p:childTnLst>
                          </p:cTn>
                        </p:par>
                        <p:par>
                          <p:cTn id="91" fill="hold">
                            <p:stCondLst>
                              <p:cond delay="2000"/>
                            </p:stCondLst>
                            <p:childTnLst>
                              <p:par>
                                <p:cTn id="92" presetID="22" presetClass="entr" presetSubtype="1" fill="hold" grpId="0" nodeType="after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up)">
                                      <p:cBhvr>
                                        <p:cTn id="9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8" grpId="0"/>
      <p:bldP spid="19" grpId="0"/>
      <p:bldP spid="25" grpId="0"/>
      <p:bldP spid="26" grpId="0"/>
      <p:bldP spid="35" grpId="0"/>
      <p:bldP spid="36" grpId="0"/>
      <p:bldP spid="37"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5" name="Rectangle 4"/>
          <p:cNvSpPr/>
          <p:nvPr/>
        </p:nvSpPr>
        <p:spPr>
          <a:xfrm>
            <a:off x="-164123" y="-164123"/>
            <a:ext cx="12707815" cy="7526215"/>
          </a:xfrm>
          <a:prstGeom prst="rect">
            <a:avLst/>
          </a:prstGeom>
          <a:solidFill>
            <a:schemeClr val="tx2">
              <a:lumMod val="90000"/>
              <a:lumOff val="10000"/>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p:cNvSpPr/>
          <p:nvPr/>
        </p:nvSpPr>
        <p:spPr>
          <a:xfrm>
            <a:off x="608058" y="3125708"/>
            <a:ext cx="2396425"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610536" y="3125582"/>
            <a:ext cx="2473754"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1.AI INTRODUCTION</a:t>
            </a:r>
            <a:endParaRPr lang="en-US"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39" name="Rounded Rectangle 38"/>
          <p:cNvSpPr/>
          <p:nvPr/>
        </p:nvSpPr>
        <p:spPr>
          <a:xfrm>
            <a:off x="8080376" y="4591726"/>
            <a:ext cx="3286748"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8091676" y="4597523"/>
            <a:ext cx="3281668"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4.DON’T HAVE ANY SKILLS</a:t>
            </a:r>
          </a:p>
        </p:txBody>
      </p:sp>
      <p:sp>
        <p:nvSpPr>
          <p:cNvPr id="40" name="Rounded Rectangle 39"/>
          <p:cNvSpPr/>
          <p:nvPr/>
        </p:nvSpPr>
        <p:spPr>
          <a:xfrm>
            <a:off x="5569543" y="3125582"/>
            <a:ext cx="2396425" cy="3693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p:nvSpPr>
        <p:spPr>
          <a:xfrm>
            <a:off x="3039566" y="4595488"/>
            <a:ext cx="2619366" cy="38995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5"/>
          <p:cNvSpPr/>
          <p:nvPr/>
        </p:nvSpPr>
        <p:spPr>
          <a:xfrm rot="2556097">
            <a:off x="7649198" y="2926462"/>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5"/>
          <p:cNvSpPr/>
          <p:nvPr/>
        </p:nvSpPr>
        <p:spPr>
          <a:xfrm rot="19089711">
            <a:off x="5186624" y="2933939"/>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rot="2556097">
            <a:off x="2644643" y="2996566"/>
            <a:ext cx="719680" cy="2463136"/>
          </a:xfrm>
          <a:custGeom>
            <a:avLst/>
            <a:gdLst>
              <a:gd name="connsiteX0" fmla="*/ 0 w 718698"/>
              <a:gd name="connsiteY0" fmla="*/ 123566 h 2463136"/>
              <a:gd name="connsiteX1" fmla="*/ 123566 w 718698"/>
              <a:gd name="connsiteY1" fmla="*/ 0 h 2463136"/>
              <a:gd name="connsiteX2" fmla="*/ 595132 w 718698"/>
              <a:gd name="connsiteY2" fmla="*/ 0 h 2463136"/>
              <a:gd name="connsiteX3" fmla="*/ 718698 w 718698"/>
              <a:gd name="connsiteY3" fmla="*/ 123566 h 2463136"/>
              <a:gd name="connsiteX4" fmla="*/ 718698 w 718698"/>
              <a:gd name="connsiteY4" fmla="*/ 2339570 h 2463136"/>
              <a:gd name="connsiteX5" fmla="*/ 595132 w 718698"/>
              <a:gd name="connsiteY5" fmla="*/ 2463136 h 2463136"/>
              <a:gd name="connsiteX6" fmla="*/ 123566 w 718698"/>
              <a:gd name="connsiteY6" fmla="*/ 2463136 h 2463136"/>
              <a:gd name="connsiteX7" fmla="*/ 0 w 718698"/>
              <a:gd name="connsiteY7" fmla="*/ 2339570 h 2463136"/>
              <a:gd name="connsiteX8" fmla="*/ 0 w 718698"/>
              <a:gd name="connsiteY8"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718739 w 718739"/>
              <a:gd name="connsiteY4" fmla="*/ 2339570 h 2463136"/>
              <a:gd name="connsiteX5" fmla="*/ 595173 w 718739"/>
              <a:gd name="connsiteY5" fmla="*/ 2463136 h 2463136"/>
              <a:gd name="connsiteX6" fmla="*/ 123607 w 718739"/>
              <a:gd name="connsiteY6" fmla="*/ 2463136 h 2463136"/>
              <a:gd name="connsiteX7" fmla="*/ 41 w 718739"/>
              <a:gd name="connsiteY7" fmla="*/ 2339570 h 2463136"/>
              <a:gd name="connsiteX8" fmla="*/ 199556 w 718739"/>
              <a:gd name="connsiteY8" fmla="*/ 1113878 h 2463136"/>
              <a:gd name="connsiteX9" fmla="*/ 41 w 718739"/>
              <a:gd name="connsiteY9" fmla="*/ 123566 h 2463136"/>
              <a:gd name="connsiteX0" fmla="*/ 41 w 718739"/>
              <a:gd name="connsiteY0" fmla="*/ 123566 h 2463136"/>
              <a:gd name="connsiteX1" fmla="*/ 123607 w 718739"/>
              <a:gd name="connsiteY1" fmla="*/ 0 h 2463136"/>
              <a:gd name="connsiteX2" fmla="*/ 595173 w 718739"/>
              <a:gd name="connsiteY2" fmla="*/ 0 h 2463136"/>
              <a:gd name="connsiteX3" fmla="*/ 718739 w 718739"/>
              <a:gd name="connsiteY3" fmla="*/ 123566 h 2463136"/>
              <a:gd name="connsiteX4" fmla="*/ 486072 w 718739"/>
              <a:gd name="connsiteY4" fmla="*/ 1140259 h 2463136"/>
              <a:gd name="connsiteX5" fmla="*/ 718739 w 718739"/>
              <a:gd name="connsiteY5" fmla="*/ 2339570 h 2463136"/>
              <a:gd name="connsiteX6" fmla="*/ 595173 w 718739"/>
              <a:gd name="connsiteY6" fmla="*/ 2463136 h 2463136"/>
              <a:gd name="connsiteX7" fmla="*/ 123607 w 718739"/>
              <a:gd name="connsiteY7" fmla="*/ 2463136 h 2463136"/>
              <a:gd name="connsiteX8" fmla="*/ 41 w 718739"/>
              <a:gd name="connsiteY8" fmla="*/ 2339570 h 2463136"/>
              <a:gd name="connsiteX9" fmla="*/ 199556 w 718739"/>
              <a:gd name="connsiteY9" fmla="*/ 1113878 h 2463136"/>
              <a:gd name="connsiteX10" fmla="*/ 41 w 718739"/>
              <a:gd name="connsiteY10" fmla="*/ 123566 h 2463136"/>
              <a:gd name="connsiteX0" fmla="*/ 47 w 718745"/>
              <a:gd name="connsiteY0" fmla="*/ 123566 h 2463136"/>
              <a:gd name="connsiteX1" fmla="*/ 123613 w 718745"/>
              <a:gd name="connsiteY1" fmla="*/ 0 h 2463136"/>
              <a:gd name="connsiteX2" fmla="*/ 595179 w 718745"/>
              <a:gd name="connsiteY2" fmla="*/ 0 h 2463136"/>
              <a:gd name="connsiteX3" fmla="*/ 718745 w 718745"/>
              <a:gd name="connsiteY3" fmla="*/ 123566 h 2463136"/>
              <a:gd name="connsiteX4" fmla="*/ 486078 w 718745"/>
              <a:gd name="connsiteY4" fmla="*/ 1140259 h 2463136"/>
              <a:gd name="connsiteX5" fmla="*/ 718745 w 718745"/>
              <a:gd name="connsiteY5" fmla="*/ 2339570 h 2463136"/>
              <a:gd name="connsiteX6" fmla="*/ 595179 w 718745"/>
              <a:gd name="connsiteY6" fmla="*/ 2463136 h 2463136"/>
              <a:gd name="connsiteX7" fmla="*/ 123613 w 718745"/>
              <a:gd name="connsiteY7" fmla="*/ 2463136 h 2463136"/>
              <a:gd name="connsiteX8" fmla="*/ 47 w 718745"/>
              <a:gd name="connsiteY8" fmla="*/ 2339570 h 2463136"/>
              <a:gd name="connsiteX9" fmla="*/ 170850 w 718745"/>
              <a:gd name="connsiteY9" fmla="*/ 1112676 h 2463136"/>
              <a:gd name="connsiteX10" fmla="*/ 47 w 718745"/>
              <a:gd name="connsiteY10"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718909 w 718909"/>
              <a:gd name="connsiteY5" fmla="*/ 2339570 h 2463136"/>
              <a:gd name="connsiteX6" fmla="*/ 595343 w 718909"/>
              <a:gd name="connsiteY6" fmla="*/ 2463136 h 2463136"/>
              <a:gd name="connsiteX7" fmla="*/ 123777 w 718909"/>
              <a:gd name="connsiteY7" fmla="*/ 2463136 h 2463136"/>
              <a:gd name="connsiteX8" fmla="*/ 211 w 718909"/>
              <a:gd name="connsiteY8" fmla="*/ 2339570 h 2463136"/>
              <a:gd name="connsiteX9" fmla="*/ 158914 w 718909"/>
              <a:gd name="connsiteY9" fmla="*/ 1744933 h 2463136"/>
              <a:gd name="connsiteX10" fmla="*/ 171014 w 718909"/>
              <a:gd name="connsiteY10" fmla="*/ 1112676 h 2463136"/>
              <a:gd name="connsiteX11" fmla="*/ 211 w 718909"/>
              <a:gd name="connsiteY11" fmla="*/ 123566 h 2463136"/>
              <a:gd name="connsiteX0" fmla="*/ 211 w 718909"/>
              <a:gd name="connsiteY0" fmla="*/ 123566 h 2463136"/>
              <a:gd name="connsiteX1" fmla="*/ 123777 w 718909"/>
              <a:gd name="connsiteY1" fmla="*/ 0 h 2463136"/>
              <a:gd name="connsiteX2" fmla="*/ 595343 w 718909"/>
              <a:gd name="connsiteY2" fmla="*/ 0 h 2463136"/>
              <a:gd name="connsiteX3" fmla="*/ 718909 w 718909"/>
              <a:gd name="connsiteY3" fmla="*/ 123566 h 2463136"/>
              <a:gd name="connsiteX4" fmla="*/ 486242 w 718909"/>
              <a:gd name="connsiteY4" fmla="*/ 1140259 h 2463136"/>
              <a:gd name="connsiteX5" fmla="*/ 540246 w 718909"/>
              <a:gd name="connsiteY5" fmla="*/ 1739334 h 2463136"/>
              <a:gd name="connsiteX6" fmla="*/ 718909 w 718909"/>
              <a:gd name="connsiteY6" fmla="*/ 2339570 h 2463136"/>
              <a:gd name="connsiteX7" fmla="*/ 595343 w 718909"/>
              <a:gd name="connsiteY7" fmla="*/ 2463136 h 2463136"/>
              <a:gd name="connsiteX8" fmla="*/ 123777 w 718909"/>
              <a:gd name="connsiteY8" fmla="*/ 2463136 h 2463136"/>
              <a:gd name="connsiteX9" fmla="*/ 211 w 718909"/>
              <a:gd name="connsiteY9" fmla="*/ 2339570 h 2463136"/>
              <a:gd name="connsiteX10" fmla="*/ 158914 w 718909"/>
              <a:gd name="connsiteY10" fmla="*/ 1744933 h 2463136"/>
              <a:gd name="connsiteX11" fmla="*/ 171014 w 718909"/>
              <a:gd name="connsiteY11" fmla="*/ 1112676 h 2463136"/>
              <a:gd name="connsiteX12" fmla="*/ 211 w 718909"/>
              <a:gd name="connsiteY12" fmla="*/ 123566 h 2463136"/>
              <a:gd name="connsiteX0" fmla="*/ 211 w 719097"/>
              <a:gd name="connsiteY0" fmla="*/ 123566 h 2463136"/>
              <a:gd name="connsiteX1" fmla="*/ 123777 w 719097"/>
              <a:gd name="connsiteY1" fmla="*/ 0 h 2463136"/>
              <a:gd name="connsiteX2" fmla="*/ 595343 w 719097"/>
              <a:gd name="connsiteY2" fmla="*/ 0 h 2463136"/>
              <a:gd name="connsiteX3" fmla="*/ 718909 w 719097"/>
              <a:gd name="connsiteY3" fmla="*/ 123566 h 2463136"/>
              <a:gd name="connsiteX4" fmla="*/ 532729 w 719097"/>
              <a:gd name="connsiteY4" fmla="*/ 545395 h 2463136"/>
              <a:gd name="connsiteX5" fmla="*/ 486242 w 719097"/>
              <a:gd name="connsiteY5" fmla="*/ 1140259 h 2463136"/>
              <a:gd name="connsiteX6" fmla="*/ 540246 w 719097"/>
              <a:gd name="connsiteY6" fmla="*/ 1739334 h 2463136"/>
              <a:gd name="connsiteX7" fmla="*/ 718909 w 719097"/>
              <a:gd name="connsiteY7" fmla="*/ 2339570 h 2463136"/>
              <a:gd name="connsiteX8" fmla="*/ 595343 w 719097"/>
              <a:gd name="connsiteY8" fmla="*/ 2463136 h 2463136"/>
              <a:gd name="connsiteX9" fmla="*/ 123777 w 719097"/>
              <a:gd name="connsiteY9" fmla="*/ 2463136 h 2463136"/>
              <a:gd name="connsiteX10" fmla="*/ 211 w 719097"/>
              <a:gd name="connsiteY10" fmla="*/ 2339570 h 2463136"/>
              <a:gd name="connsiteX11" fmla="*/ 158914 w 719097"/>
              <a:gd name="connsiteY11" fmla="*/ 1744933 h 2463136"/>
              <a:gd name="connsiteX12" fmla="*/ 171014 w 719097"/>
              <a:gd name="connsiteY12" fmla="*/ 1112676 h 2463136"/>
              <a:gd name="connsiteX13" fmla="*/ 211 w 719097"/>
              <a:gd name="connsiteY13"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71356 w 719439"/>
              <a:gd name="connsiteY12" fmla="*/ 1112676 h 2463136"/>
              <a:gd name="connsiteX13" fmla="*/ 128101 w 719439"/>
              <a:gd name="connsiteY13" fmla="*/ 600338 h 2463136"/>
              <a:gd name="connsiteX14" fmla="*/ 553 w 719439"/>
              <a:gd name="connsiteY14" fmla="*/ 123566 h 2463136"/>
              <a:gd name="connsiteX0" fmla="*/ 553 w 719439"/>
              <a:gd name="connsiteY0" fmla="*/ 123566 h 2463136"/>
              <a:gd name="connsiteX1" fmla="*/ 124119 w 719439"/>
              <a:gd name="connsiteY1" fmla="*/ 0 h 2463136"/>
              <a:gd name="connsiteX2" fmla="*/ 595685 w 719439"/>
              <a:gd name="connsiteY2" fmla="*/ 0 h 2463136"/>
              <a:gd name="connsiteX3" fmla="*/ 719251 w 719439"/>
              <a:gd name="connsiteY3" fmla="*/ 123566 h 2463136"/>
              <a:gd name="connsiteX4" fmla="*/ 533071 w 719439"/>
              <a:gd name="connsiteY4" fmla="*/ 545395 h 2463136"/>
              <a:gd name="connsiteX5" fmla="*/ 486584 w 719439"/>
              <a:gd name="connsiteY5" fmla="*/ 1140259 h 2463136"/>
              <a:gd name="connsiteX6" fmla="*/ 540588 w 719439"/>
              <a:gd name="connsiteY6" fmla="*/ 1739334 h 2463136"/>
              <a:gd name="connsiteX7" fmla="*/ 719251 w 719439"/>
              <a:gd name="connsiteY7" fmla="*/ 2339570 h 2463136"/>
              <a:gd name="connsiteX8" fmla="*/ 595685 w 719439"/>
              <a:gd name="connsiteY8" fmla="*/ 2463136 h 2463136"/>
              <a:gd name="connsiteX9" fmla="*/ 124119 w 719439"/>
              <a:gd name="connsiteY9" fmla="*/ 2463136 h 2463136"/>
              <a:gd name="connsiteX10" fmla="*/ 553 w 719439"/>
              <a:gd name="connsiteY10" fmla="*/ 2339570 h 2463136"/>
              <a:gd name="connsiteX11" fmla="*/ 159256 w 719439"/>
              <a:gd name="connsiteY11" fmla="*/ 1744933 h 2463136"/>
              <a:gd name="connsiteX12" fmla="*/ 157001 w 719439"/>
              <a:gd name="connsiteY12" fmla="*/ 1112075 h 2463136"/>
              <a:gd name="connsiteX13" fmla="*/ 128101 w 719439"/>
              <a:gd name="connsiteY13" fmla="*/ 600338 h 2463136"/>
              <a:gd name="connsiteX14" fmla="*/ 553 w 719439"/>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59497 w 719680"/>
              <a:gd name="connsiteY11" fmla="*/ 1744933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40829 w 719680"/>
              <a:gd name="connsiteY6" fmla="*/ 1739334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 name="connsiteX0" fmla="*/ 794 w 719680"/>
              <a:gd name="connsiteY0" fmla="*/ 123566 h 2463136"/>
              <a:gd name="connsiteX1" fmla="*/ 124360 w 719680"/>
              <a:gd name="connsiteY1" fmla="*/ 0 h 2463136"/>
              <a:gd name="connsiteX2" fmla="*/ 595926 w 719680"/>
              <a:gd name="connsiteY2" fmla="*/ 0 h 2463136"/>
              <a:gd name="connsiteX3" fmla="*/ 719492 w 719680"/>
              <a:gd name="connsiteY3" fmla="*/ 123566 h 2463136"/>
              <a:gd name="connsiteX4" fmla="*/ 533312 w 719680"/>
              <a:gd name="connsiteY4" fmla="*/ 545395 h 2463136"/>
              <a:gd name="connsiteX5" fmla="*/ 486825 w 719680"/>
              <a:gd name="connsiteY5" fmla="*/ 1140259 h 2463136"/>
              <a:gd name="connsiteX6" fmla="*/ 583897 w 719680"/>
              <a:gd name="connsiteY6" fmla="*/ 1741137 h 2463136"/>
              <a:gd name="connsiteX7" fmla="*/ 719492 w 719680"/>
              <a:gd name="connsiteY7" fmla="*/ 2339570 h 2463136"/>
              <a:gd name="connsiteX8" fmla="*/ 595926 w 719680"/>
              <a:gd name="connsiteY8" fmla="*/ 2463136 h 2463136"/>
              <a:gd name="connsiteX9" fmla="*/ 124360 w 719680"/>
              <a:gd name="connsiteY9" fmla="*/ 2463136 h 2463136"/>
              <a:gd name="connsiteX10" fmla="*/ 794 w 719680"/>
              <a:gd name="connsiteY10" fmla="*/ 2339570 h 2463136"/>
              <a:gd name="connsiteX11" fmla="*/ 114625 w 719680"/>
              <a:gd name="connsiteY11" fmla="*/ 1786196 h 2463136"/>
              <a:gd name="connsiteX12" fmla="*/ 157242 w 719680"/>
              <a:gd name="connsiteY12" fmla="*/ 1112075 h 2463136"/>
              <a:gd name="connsiteX13" fmla="*/ 93354 w 719680"/>
              <a:gd name="connsiteY13" fmla="*/ 577300 h 2463136"/>
              <a:gd name="connsiteX14" fmla="*/ 794 w 719680"/>
              <a:gd name="connsiteY14" fmla="*/ 123566 h 2463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9680" h="2463136">
                <a:moveTo>
                  <a:pt x="794" y="123566"/>
                </a:moveTo>
                <a:cubicBezTo>
                  <a:pt x="794" y="55322"/>
                  <a:pt x="56116" y="0"/>
                  <a:pt x="124360" y="0"/>
                </a:cubicBezTo>
                <a:lnTo>
                  <a:pt x="595926" y="0"/>
                </a:lnTo>
                <a:cubicBezTo>
                  <a:pt x="664170" y="0"/>
                  <a:pt x="719492" y="55322"/>
                  <a:pt x="719492" y="123566"/>
                </a:cubicBezTo>
                <a:cubicBezTo>
                  <a:pt x="725805" y="215167"/>
                  <a:pt x="572090" y="375946"/>
                  <a:pt x="533312" y="545395"/>
                </a:cubicBezTo>
                <a:cubicBezTo>
                  <a:pt x="494534" y="714844"/>
                  <a:pt x="502320" y="941971"/>
                  <a:pt x="486825" y="1140259"/>
                </a:cubicBezTo>
                <a:cubicBezTo>
                  <a:pt x="528753" y="1340953"/>
                  <a:pt x="541969" y="1540443"/>
                  <a:pt x="583897" y="1741137"/>
                </a:cubicBezTo>
                <a:lnTo>
                  <a:pt x="719492" y="2339570"/>
                </a:lnTo>
                <a:cubicBezTo>
                  <a:pt x="719492" y="2407814"/>
                  <a:pt x="664170" y="2463136"/>
                  <a:pt x="595926" y="2463136"/>
                </a:cubicBezTo>
                <a:lnTo>
                  <a:pt x="124360" y="2463136"/>
                </a:lnTo>
                <a:cubicBezTo>
                  <a:pt x="56116" y="2463136"/>
                  <a:pt x="794" y="2407814"/>
                  <a:pt x="794" y="2339570"/>
                </a:cubicBezTo>
                <a:cubicBezTo>
                  <a:pt x="-5513" y="2224154"/>
                  <a:pt x="86158" y="1990678"/>
                  <a:pt x="114625" y="1786196"/>
                </a:cubicBezTo>
                <a:cubicBezTo>
                  <a:pt x="143092" y="1581714"/>
                  <a:pt x="172306" y="1296064"/>
                  <a:pt x="157242" y="1112075"/>
                </a:cubicBezTo>
                <a:cubicBezTo>
                  <a:pt x="142178" y="928086"/>
                  <a:pt x="121821" y="742152"/>
                  <a:pt x="93354" y="577300"/>
                </a:cubicBezTo>
                <a:cubicBezTo>
                  <a:pt x="64887" y="412448"/>
                  <a:pt x="-8414" y="230399"/>
                  <a:pt x="794" y="123566"/>
                </a:cubicBezTo>
                <a:close/>
              </a:path>
            </a:pathLst>
          </a:custGeom>
          <a:gradFill flip="none" rotWithShape="1">
            <a:gsLst>
              <a:gs pos="0">
                <a:schemeClr val="tx2">
                  <a:lumMod val="75000"/>
                  <a:lumOff val="25000"/>
                  <a:shade val="30000"/>
                  <a:satMod val="115000"/>
                </a:schemeClr>
              </a:gs>
              <a:gs pos="50000">
                <a:schemeClr val="tx2">
                  <a:lumMod val="75000"/>
                  <a:lumOff val="25000"/>
                  <a:shade val="67500"/>
                  <a:satMod val="115000"/>
                </a:schemeClr>
              </a:gs>
              <a:gs pos="100000">
                <a:schemeClr val="tx2">
                  <a:lumMod val="75000"/>
                  <a:lumOff val="25000"/>
                  <a:shade val="100000"/>
                  <a:satMod val="115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519160" y="200660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5829870" y="455676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426965" y="200660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193800" y="4556760"/>
            <a:ext cx="1686560" cy="162560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332763" y="68580"/>
            <a:ext cx="6656254" cy="954107"/>
          </a:xfrm>
          <a:prstGeom prst="rect">
            <a:avLst/>
          </a:prstGeom>
        </p:spPr>
        <p:txBody>
          <a:bodyPr wrap="square">
            <a:spAutoFit/>
          </a:bodyPr>
          <a:lstStyle/>
          <a:p>
            <a:pPr algn="ctr"/>
            <a:r>
              <a:rPr lang="en-ID" sz="2800" dirty="0">
                <a:solidFill>
                  <a:schemeClr val="bg1"/>
                </a:solidFill>
                <a:latin typeface="ROG Fonts STRIX SCAR" panose="00000500000000000000" pitchFamily="2" charset="0"/>
                <a:ea typeface="Noto Sans SC Black" panose="020B0200000000000000" pitchFamily="34" charset="-128"/>
              </a:rPr>
              <a:t>Ai IMPACT TO STUDENTS GRADES VS SKILL</a:t>
            </a:r>
          </a:p>
        </p:txBody>
      </p:sp>
      <p:sp>
        <p:nvSpPr>
          <p:cNvPr id="18" name="Oval 17"/>
          <p:cNvSpPr/>
          <p:nvPr/>
        </p:nvSpPr>
        <p:spPr>
          <a:xfrm>
            <a:off x="1341120" y="469392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666480" y="214376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574285" y="214376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977190" y="4693920"/>
            <a:ext cx="1391920" cy="13512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682332" y="4800303"/>
            <a:ext cx="311566" cy="1015663"/>
          </a:xfrm>
          <a:prstGeom prst="rect">
            <a:avLst/>
          </a:prstGeom>
        </p:spPr>
        <p:txBody>
          <a:bodyPr wrap="square">
            <a:spAutoFit/>
          </a:bodyPr>
          <a:lstStyle/>
          <a:p>
            <a:r>
              <a:rPr lang="en-ID" sz="6000" dirty="0">
                <a:latin typeface="Franklin Gothic Heavy" panose="020B0903020102020204" pitchFamily="34" charset="0"/>
              </a:rPr>
              <a:t>1</a:t>
            </a:r>
            <a:endParaRPr lang="en-US" sz="6000" dirty="0">
              <a:latin typeface="Franklin Gothic Heavy" panose="020B0903020102020204" pitchFamily="34" charset="0"/>
            </a:endParaRPr>
          </a:p>
        </p:txBody>
      </p:sp>
      <p:pic>
        <p:nvPicPr>
          <p:cNvPr id="29" name="Picture 28"/>
          <p:cNvPicPr>
            <a:picLocks noChangeAspect="1"/>
          </p:cNvPicPr>
          <p:nvPr/>
        </p:nvPicPr>
        <p:blipFill rotWithShape="1">
          <a:blip r:embed="rId4" cstate="print">
            <a:extLst>
              <a:ext uri="{28A0092B-C50C-407E-A947-70E740481C1C}">
                <a14:useLocalDpi xmlns:a14="http://schemas.microsoft.com/office/drawing/2010/main" val="0"/>
              </a:ext>
            </a:extLst>
          </a:blip>
          <a:srcRect l="9959" t="8261" r="9590" b="9511"/>
          <a:stretch/>
        </p:blipFill>
        <p:spPr>
          <a:xfrm>
            <a:off x="1341120" y="4693920"/>
            <a:ext cx="1391920" cy="1422681"/>
          </a:xfrm>
          <a:prstGeom prst="ellipse">
            <a:avLst/>
          </a:prstGeom>
        </p:spPr>
      </p:pic>
      <p:sp>
        <p:nvSpPr>
          <p:cNvPr id="47" name="Rectangle 46"/>
          <p:cNvSpPr/>
          <p:nvPr/>
        </p:nvSpPr>
        <p:spPr>
          <a:xfrm>
            <a:off x="6336424" y="4800303"/>
            <a:ext cx="311566" cy="1015663"/>
          </a:xfrm>
          <a:prstGeom prst="rect">
            <a:avLst/>
          </a:prstGeom>
        </p:spPr>
        <p:txBody>
          <a:bodyPr wrap="square">
            <a:spAutoFit/>
          </a:bodyPr>
          <a:lstStyle/>
          <a:p>
            <a:r>
              <a:rPr lang="en-ID" sz="6000" dirty="0">
                <a:latin typeface="Franklin Gothic Heavy" panose="020B0903020102020204" pitchFamily="34" charset="0"/>
              </a:rPr>
              <a:t>3</a:t>
            </a:r>
            <a:endParaRPr lang="en-US" sz="6000" dirty="0">
              <a:latin typeface="Franklin Gothic Heavy" panose="020B0903020102020204" pitchFamily="34" charset="0"/>
            </a:endParaRPr>
          </a:p>
        </p:txBody>
      </p:sp>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65576" y="4661986"/>
            <a:ext cx="1415148" cy="1415148"/>
          </a:xfrm>
          <a:prstGeom prst="ellipse">
            <a:avLst/>
          </a:prstGeom>
        </p:spPr>
      </p:pic>
      <p:sp>
        <p:nvSpPr>
          <p:cNvPr id="37" name="Rectangle 36"/>
          <p:cNvSpPr/>
          <p:nvPr/>
        </p:nvSpPr>
        <p:spPr>
          <a:xfrm>
            <a:off x="3950140" y="2238485"/>
            <a:ext cx="397711" cy="1015663"/>
          </a:xfrm>
          <a:prstGeom prst="rect">
            <a:avLst/>
          </a:prstGeom>
        </p:spPr>
        <p:txBody>
          <a:bodyPr wrap="square">
            <a:spAutoFit/>
          </a:bodyPr>
          <a:lstStyle/>
          <a:p>
            <a:r>
              <a:rPr lang="en-ID" sz="6000" dirty="0">
                <a:latin typeface="Franklin Gothic Heavy" panose="020B0903020102020204" pitchFamily="34" charset="0"/>
              </a:rPr>
              <a:t>2</a:t>
            </a:r>
            <a:endParaRPr lang="en-US" sz="6000" dirty="0">
              <a:latin typeface="Franklin Gothic Heavy" panose="020B0903020102020204" pitchFamily="34" charset="0"/>
            </a:endParaRPr>
          </a:p>
        </p:txBody>
      </p:sp>
      <p:pic>
        <p:nvPicPr>
          <p:cNvPr id="31" name="Picture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54746" y="2143761"/>
            <a:ext cx="1411460" cy="1411460"/>
          </a:xfrm>
          <a:prstGeom prst="ellipse">
            <a:avLst/>
          </a:prstGeom>
        </p:spPr>
      </p:pic>
      <p:sp>
        <p:nvSpPr>
          <p:cNvPr id="48" name="Rectangle 47"/>
          <p:cNvSpPr/>
          <p:nvPr/>
        </p:nvSpPr>
        <p:spPr>
          <a:xfrm>
            <a:off x="9050873" y="2220861"/>
            <a:ext cx="311566" cy="1015663"/>
          </a:xfrm>
          <a:prstGeom prst="rect">
            <a:avLst/>
          </a:prstGeom>
        </p:spPr>
        <p:txBody>
          <a:bodyPr wrap="square">
            <a:spAutoFit/>
          </a:bodyPr>
          <a:lstStyle/>
          <a:p>
            <a:r>
              <a:rPr lang="en-ID" sz="6000" dirty="0">
                <a:latin typeface="Franklin Gothic Heavy" panose="020B0903020102020204" pitchFamily="34" charset="0"/>
              </a:rPr>
              <a:t>4</a:t>
            </a:r>
            <a:endParaRPr lang="en-US" sz="6000" dirty="0">
              <a:latin typeface="Franklin Gothic Heavy" panose="020B0903020102020204" pitchFamily="34" charset="0"/>
            </a:endParaRPr>
          </a:p>
        </p:txBody>
      </p:sp>
      <p:pic>
        <p:nvPicPr>
          <p:cNvPr id="32" name="Picture 3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50728" y="2131798"/>
            <a:ext cx="1423423" cy="1423423"/>
          </a:xfrm>
          <a:prstGeom prst="ellipse">
            <a:avLst/>
          </a:prstGeom>
          <a:ln>
            <a:solidFill>
              <a:schemeClr val="tx1"/>
            </a:solidFill>
          </a:ln>
        </p:spPr>
      </p:pic>
      <p:sp>
        <p:nvSpPr>
          <p:cNvPr id="34" name="Rectangle 33"/>
          <p:cNvSpPr/>
          <p:nvPr/>
        </p:nvSpPr>
        <p:spPr>
          <a:xfrm>
            <a:off x="558817" y="3467143"/>
            <a:ext cx="2480748" cy="584775"/>
          </a:xfrm>
          <a:prstGeom prst="rect">
            <a:avLst/>
          </a:prstGeom>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begin to learn about AI and use it</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35" name="Rectangle 34"/>
          <p:cNvSpPr/>
          <p:nvPr/>
        </p:nvSpPr>
        <p:spPr>
          <a:xfrm>
            <a:off x="3050526" y="4588040"/>
            <a:ext cx="2608406"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2.GRADES INCREASED</a:t>
            </a:r>
            <a:endParaRPr lang="en-US"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38" name="Rectangle 37"/>
          <p:cNvSpPr/>
          <p:nvPr/>
        </p:nvSpPr>
        <p:spPr>
          <a:xfrm>
            <a:off x="5651664" y="3128612"/>
            <a:ext cx="2204450" cy="369332"/>
          </a:xfrm>
          <a:prstGeom prst="rect">
            <a:avLst/>
          </a:prstGeom>
        </p:spPr>
        <p:txBody>
          <a:bodyPr wrap="none">
            <a:spAutoFit/>
          </a:bodyPr>
          <a:lstStyle/>
          <a:p>
            <a:r>
              <a:rPr lang="en-ID" dirty="0">
                <a:solidFill>
                  <a:schemeClr val="bg1"/>
                </a:solidFill>
                <a:latin typeface="Cascadia Mono SemiBold" panose="020B0609020000020004" pitchFamily="49" charset="0"/>
                <a:ea typeface="Cascadia Mono SemiBold" panose="020B0609020000020004" pitchFamily="49" charset="0"/>
                <a:cs typeface="Cascadia Mono SemiBold" panose="020B0609020000020004" pitchFamily="49" charset="0"/>
              </a:rPr>
              <a:t>3.AI DEPENDENCY</a:t>
            </a:r>
          </a:p>
        </p:txBody>
      </p:sp>
      <p:sp>
        <p:nvSpPr>
          <p:cNvPr id="42" name="Rectangle 41"/>
          <p:cNvSpPr/>
          <p:nvPr/>
        </p:nvSpPr>
        <p:spPr>
          <a:xfrm>
            <a:off x="3093709" y="4984969"/>
            <a:ext cx="2442184" cy="584775"/>
          </a:xfrm>
          <a:prstGeom prst="rect">
            <a:avLst/>
          </a:prstGeom>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 feel the positive impact of AI</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43" name="Rectangle 42"/>
          <p:cNvSpPr/>
          <p:nvPr/>
        </p:nvSpPr>
        <p:spPr>
          <a:xfrm>
            <a:off x="5860251" y="3436364"/>
            <a:ext cx="1728750" cy="584775"/>
          </a:xfrm>
          <a:prstGeom prst="rect">
            <a:avLst/>
          </a:prstGeom>
          <a:effectLst>
            <a:glow rad="101600">
              <a:schemeClr val="tx1">
                <a:alpha val="60000"/>
              </a:schemeClr>
            </a:glow>
            <a:outerShdw blurRad="50800" dist="38100" dir="2700000" algn="tl" rotWithShape="0">
              <a:prstClr val="black">
                <a:alpha val="40000"/>
              </a:prstClr>
            </a:outerShdw>
          </a:effectLst>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are lazy to think</a:t>
            </a:r>
            <a:endParaRPr lang="en-US" sz="1600" dirty="0">
              <a:solidFill>
                <a:schemeClr val="bg1"/>
              </a:solidFill>
              <a:latin typeface="Microsoft Tai Le" panose="020B0502040204020203" pitchFamily="34" charset="0"/>
              <a:cs typeface="Microsoft Tai Le" panose="020B0502040204020203" pitchFamily="34" charset="0"/>
            </a:endParaRPr>
          </a:p>
        </p:txBody>
      </p:sp>
      <p:sp>
        <p:nvSpPr>
          <p:cNvPr id="45" name="Rectangle 44"/>
          <p:cNvSpPr/>
          <p:nvPr/>
        </p:nvSpPr>
        <p:spPr>
          <a:xfrm>
            <a:off x="8192618" y="4971107"/>
            <a:ext cx="3174505" cy="584775"/>
          </a:xfrm>
          <a:prstGeom prst="rect">
            <a:avLst/>
          </a:prstGeom>
          <a:effectLst>
            <a:glow rad="101600">
              <a:schemeClr val="tx1">
                <a:alpha val="60000"/>
              </a:schemeClr>
            </a:glow>
            <a:outerShdw blurRad="50800" dist="38100" dir="13500000" algn="br" rotWithShape="0">
              <a:prstClr val="black">
                <a:alpha val="40000"/>
              </a:prstClr>
            </a:outerShdw>
          </a:effectLst>
        </p:spPr>
        <p:txBody>
          <a:bodyPr wrap="square">
            <a:spAutoFit/>
          </a:bodyPr>
          <a:lstStyle/>
          <a:p>
            <a:pPr algn="ctr"/>
            <a:r>
              <a:rPr lang="en-ID" sz="1600" dirty="0">
                <a:solidFill>
                  <a:schemeClr val="bg1"/>
                </a:solidFill>
                <a:latin typeface="Microsoft Tai Le" panose="020B0502040204020203" pitchFamily="34" charset="0"/>
                <a:cs typeface="Microsoft Tai Le" panose="020B0502040204020203" pitchFamily="34" charset="0"/>
              </a:rPr>
              <a:t>Students feel frustrated with their lack of skills</a:t>
            </a:r>
            <a:endParaRPr lang="en-US" sz="1600" dirty="0">
              <a:solidFill>
                <a:schemeClr val="bg1"/>
              </a:solidFill>
              <a:latin typeface="Microsoft Tai Le" panose="020B0502040204020203" pitchFamily="34" charset="0"/>
              <a:cs typeface="Microsoft Tai Le" panose="020B0502040204020203" pitchFamily="34" charset="0"/>
            </a:endParaRPr>
          </a:p>
        </p:txBody>
      </p:sp>
    </p:spTree>
    <p:extLst>
      <p:ext uri="{BB962C8B-B14F-4D97-AF65-F5344CB8AC3E}">
        <p14:creationId xmlns:p14="http://schemas.microsoft.com/office/powerpoint/2010/main" val="307020002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up)">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up)">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childTnLst>
                          </p:cTn>
                        </p:par>
                        <p:par>
                          <p:cTn id="64" fill="hold">
                            <p:stCondLst>
                              <p:cond delay="1000"/>
                            </p:stCondLst>
                            <p:childTnLst>
                              <p:par>
                                <p:cTn id="65" presetID="22" presetClass="entr" presetSubtype="1"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up)">
                                      <p:cBhvr>
                                        <p:cTn id="6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3" grpId="0"/>
      <p:bldP spid="39" grpId="0" animBg="1"/>
      <p:bldP spid="44" grpId="0"/>
      <p:bldP spid="40" grpId="0" animBg="1"/>
      <p:bldP spid="41" grpId="0" animBg="1"/>
      <p:bldP spid="34" grpId="0"/>
      <p:bldP spid="35" grpId="0"/>
      <p:bldP spid="38" grpId="0"/>
      <p:bldP spid="42" grpId="0"/>
      <p:bldP spid="43" grpId="0"/>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8113393" y="3183021"/>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8943571" y="0"/>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805763" y="0"/>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8839385"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pic>
        <p:nvPicPr>
          <p:cNvPr id="20" name="Picture 2" descr="Diagram jawaban Formulir. Judul pertanyaan: 1.I am depending on Ai when completing assignment. Jumlah jawaban: 57 jawaban.">
            <a:extLst>
              <a:ext uri="{FF2B5EF4-FFF2-40B4-BE49-F238E27FC236}">
                <a16:creationId xmlns:a16="http://schemas.microsoft.com/office/drawing/2014/main" xmlns="" id="{E11E64E9-F83D-6470-88B4-2CAFCF5D6E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386" t="29784" r="54614" b="10737"/>
          <a:stretch/>
        </p:blipFill>
        <p:spPr bwMode="auto">
          <a:xfrm>
            <a:off x="5590055" y="1903613"/>
            <a:ext cx="3048000" cy="3050770"/>
          </a:xfrm>
          <a:prstGeom prst="ellipse">
            <a:avLst/>
          </a:prstGeom>
          <a:noFill/>
          <a:extLst>
            <a:ext uri="{909E8E84-426E-40DD-AFC4-6F175D3DCCD1}">
              <a14:hiddenFill xmlns:a14="http://schemas.microsoft.com/office/drawing/2010/main">
                <a:solidFill>
                  <a:srgbClr val="FFFFFF"/>
                </a:solidFill>
              </a14:hiddenFill>
            </a:ext>
          </a:extLst>
        </p:spPr>
      </p:pic>
      <p:sp>
        <p:nvSpPr>
          <p:cNvPr id="29" name="Rectangle 28"/>
          <p:cNvSpPr/>
          <p:nvPr/>
        </p:nvSpPr>
        <p:spPr>
          <a:xfrm>
            <a:off x="1251991" y="661717"/>
            <a:ext cx="5006569" cy="6617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251991" y="661717"/>
            <a:ext cx="5378334" cy="646331"/>
          </a:xfrm>
          <a:prstGeom prst="rect">
            <a:avLst/>
          </a:prstGeom>
          <a:noFill/>
        </p:spPr>
        <p:txBody>
          <a:bodyPr wrap="square" rtlCol="0">
            <a:spAutoFit/>
          </a:bodyPr>
          <a:lstStyle/>
          <a:p>
            <a:r>
              <a:rPr lang="en-ID" dirty="0">
                <a:latin typeface="Arial Rounded MT Bold" panose="020F0704030504030204" pitchFamily="34" charset="0"/>
              </a:rPr>
              <a:t>1.I am depending on AI when completing       assignment.</a:t>
            </a:r>
            <a:endParaRPr lang="en-US" dirty="0">
              <a:latin typeface="Arial Rounded MT Bold" panose="020F0704030504030204" pitchFamily="34" charset="0"/>
            </a:endParaRPr>
          </a:p>
        </p:txBody>
      </p:sp>
      <p:sp>
        <p:nvSpPr>
          <p:cNvPr id="22" name="Bent Arrow 21"/>
          <p:cNvSpPr/>
          <p:nvPr/>
        </p:nvSpPr>
        <p:spPr>
          <a:xfrm rot="10800000" flipH="1">
            <a:off x="1445262" y="1443716"/>
            <a:ext cx="3657598" cy="2466821"/>
          </a:xfrm>
          <a:prstGeom prst="bentArrow">
            <a:avLst>
              <a:gd name="adj1" fmla="val 13758"/>
              <a:gd name="adj2" fmla="val 15484"/>
              <a:gd name="adj3" fmla="val 36924"/>
              <a:gd name="adj4" fmla="val 12093"/>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pic>
        <p:nvPicPr>
          <p:cNvPr id="23" name="Picture 2" descr="Diagram jawaban Formulir. Judul pertanyaan: 1.I am depending on Ai when completing assignment. Jumlah jawaban: 57 jawaban.">
            <a:extLst>
              <a:ext uri="{FF2B5EF4-FFF2-40B4-BE49-F238E27FC236}">
                <a16:creationId xmlns:a16="http://schemas.microsoft.com/office/drawing/2014/main" xmlns="" id="{E11E64E9-F83D-6470-88B4-2CAFCF5D6E4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8319535" y="1451032"/>
            <a:ext cx="1230286" cy="98921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p:cNvSpPr txBox="1"/>
          <p:nvPr/>
        </p:nvSpPr>
        <p:spPr>
          <a:xfrm>
            <a:off x="6342196" y="1266366"/>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9445" y="3910537"/>
            <a:ext cx="2524142" cy="2524142"/>
          </a:xfrm>
          <a:prstGeom prst="rect">
            <a:avLst/>
          </a:prstGeom>
        </p:spPr>
      </p:pic>
    </p:spTree>
    <p:extLst>
      <p:ext uri="{BB962C8B-B14F-4D97-AF65-F5344CB8AC3E}">
        <p14:creationId xmlns:p14="http://schemas.microsoft.com/office/powerpoint/2010/main" val="12448236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0.00729 -0.00949 L -0.6763 -0.0088 " pathEditMode="fixed" rAng="0" ptsTypes="AA">
                                      <p:cBhvr>
                                        <p:cTn id="6" dur="1000" fill="hold"/>
                                        <p:tgtEl>
                                          <p:spTgt spid="6"/>
                                        </p:tgtEl>
                                        <p:attrNameLst>
                                          <p:attrName>ppt_x</p:attrName>
                                          <p:attrName>ppt_y</p:attrName>
                                        </p:attrNameLst>
                                      </p:cBhvr>
                                      <p:rCtr x="-33451" y="23"/>
                                    </p:animMotion>
                                  </p:childTnLst>
                                </p:cTn>
                              </p:par>
                              <p:par>
                                <p:cTn id="7" presetID="35" presetClass="path" presetSubtype="0" accel="50000" decel="50000" fill="hold" grpId="0" nodeType="withEffect">
                                  <p:stCondLst>
                                    <p:cond delay="0"/>
                                  </p:stCondLst>
                                  <p:childTnLst>
                                    <p:animMotion origin="layout" path="M 0.0013 -0.00139 L -0.67175 0.00093 " pathEditMode="relative" rAng="0" ptsTypes="AA">
                                      <p:cBhvr>
                                        <p:cTn id="8" dur="1000" fill="hold"/>
                                        <p:tgtEl>
                                          <p:spTgt spid="14"/>
                                        </p:tgtEl>
                                        <p:attrNameLst>
                                          <p:attrName>ppt_x</p:attrName>
                                          <p:attrName>ppt_y</p:attrName>
                                        </p:attrNameLst>
                                      </p:cBhvr>
                                      <p:rCtr x="-33659" y="116"/>
                                    </p:animMotion>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1"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500"/>
                                        <p:tgtEl>
                                          <p:spTgt spid="20"/>
                                        </p:tgtEl>
                                      </p:cBhvr>
                                    </p:animEffect>
                                    <p:set>
                                      <p:cBhvr>
                                        <p:cTn id="35" dur="1" fill="hold">
                                          <p:stCondLst>
                                            <p:cond delay="499"/>
                                          </p:stCondLst>
                                        </p:cTn>
                                        <p:tgtEl>
                                          <p:spTgt spid="20"/>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23"/>
                                        </p:tgtEl>
                                      </p:cBhvr>
                                    </p:animEffect>
                                    <p:set>
                                      <p:cBhvr>
                                        <p:cTn id="38" dur="1" fill="hold">
                                          <p:stCondLst>
                                            <p:cond delay="499"/>
                                          </p:stCondLst>
                                        </p:cTn>
                                        <p:tgtEl>
                                          <p:spTgt spid="23"/>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22"/>
                                        </p:tgtEl>
                                      </p:cBhvr>
                                    </p:animEffect>
                                    <p:set>
                                      <p:cBhvr>
                                        <p:cTn id="41" dur="1" fill="hold">
                                          <p:stCondLst>
                                            <p:cond delay="499"/>
                                          </p:stCondLst>
                                        </p:cTn>
                                        <p:tgtEl>
                                          <p:spTgt spid="22"/>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21"/>
                                        </p:tgtEl>
                                      </p:cBhvr>
                                    </p:animEffect>
                                    <p:set>
                                      <p:cBhvr>
                                        <p:cTn id="44" dur="1" fill="hold">
                                          <p:stCondLst>
                                            <p:cond delay="499"/>
                                          </p:stCondLst>
                                        </p:cTn>
                                        <p:tgtEl>
                                          <p:spTgt spid="21"/>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2"/>
                                        </p:tgtEl>
                                      </p:cBhvr>
                                    </p:animEffect>
                                    <p:set>
                                      <p:cBhvr>
                                        <p:cTn id="47" dur="1" fill="hold">
                                          <p:stCondLst>
                                            <p:cond delay="499"/>
                                          </p:stCondLst>
                                        </p:cTn>
                                        <p:tgtEl>
                                          <p:spTgt spid="2"/>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29"/>
                                        </p:tgtEl>
                                      </p:cBhvr>
                                    </p:animEffect>
                                    <p:set>
                                      <p:cBhvr>
                                        <p:cTn id="53"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29" grpId="0" animBg="1"/>
      <p:bldP spid="29" grpId="1" animBg="1"/>
      <p:bldP spid="21" grpId="0"/>
      <p:bldP spid="21" grpId="1"/>
      <p:bldP spid="22" grpId="0" animBg="1"/>
      <p:bldP spid="22" grpId="1" animBg="1"/>
      <p:bldP spid="28" grpId="0"/>
      <p:bldP spid="28"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206142" y="3149012"/>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738575" y="-2"/>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8839385"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805763" y="0"/>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sp>
        <p:nvSpPr>
          <p:cNvPr id="16" name="TextBox 15"/>
          <p:cNvSpPr txBox="1"/>
          <p:nvPr/>
        </p:nvSpPr>
        <p:spPr>
          <a:xfrm>
            <a:off x="1036321" y="477051"/>
            <a:ext cx="4114799" cy="369332"/>
          </a:xfrm>
          <a:prstGeom prst="rect">
            <a:avLst/>
          </a:prstGeom>
          <a:noFill/>
        </p:spPr>
        <p:txBody>
          <a:bodyPr wrap="square" rtlCol="0">
            <a:spAutoFit/>
          </a:bodyPr>
          <a:lstStyle/>
          <a:p>
            <a:r>
              <a:rPr lang="en-ID" dirty="0">
                <a:latin typeface="Arial Rounded MT Bold" panose="020F0704030504030204" pitchFamily="34" charset="0"/>
              </a:rPr>
              <a:t>2.AI is improving students grades.</a:t>
            </a:r>
            <a:endParaRPr lang="en-US" dirty="0">
              <a:latin typeface="Arial Rounded MT Bold" panose="020F0704030504030204" pitchFamily="34" charset="0"/>
            </a:endParaRPr>
          </a:p>
        </p:txBody>
      </p:sp>
      <p:pic>
        <p:nvPicPr>
          <p:cNvPr id="24" name="Picture 23"/>
          <p:cNvPicPr>
            <a:picLocks noChangeAspect="1"/>
          </p:cNvPicPr>
          <p:nvPr/>
        </p:nvPicPr>
        <p:blipFill>
          <a:blip r:embed="rId2" cstate="print">
            <a:extLst>
              <a:ext uri="{BEBA8EAE-BF5A-486C-A8C5-ECC9F3942E4B}">
                <a14:imgProps xmlns:a14="http://schemas.microsoft.com/office/drawing/2010/main">
                  <a14:imgLayer r:embed="rId3">
                    <a14:imgEffect>
                      <a14:backgroundRemoval t="9800" b="95323" l="9967" r="96242">
                        <a14:foregroundMark x1="14216" y1="86860" x2="14216" y2="86860"/>
                        <a14:foregroundMark x1="19935" y1="86860" x2="19935" y2="86860"/>
                        <a14:foregroundMark x1="28431" y1="85078" x2="28431" y2="85078"/>
                        <a14:foregroundMark x1="35621" y1="81292" x2="35621" y2="81292"/>
                        <a14:foregroundMark x1="44444" y1="79510" x2="44444" y2="79510"/>
                        <a14:foregroundMark x1="53431" y1="76615" x2="53431" y2="76615"/>
                        <a14:foregroundMark x1="61438" y1="74610" x2="61438" y2="74610"/>
                        <a14:foregroundMark x1="67157" y1="67929" x2="67157" y2="67929"/>
                        <a14:foregroundMark x1="74346" y1="62584" x2="74346" y2="62584"/>
                      </a14:backgroundRemoval>
                    </a14:imgEffect>
                  </a14:imgLayer>
                </a14:imgProps>
              </a:ext>
              <a:ext uri="{28A0092B-C50C-407E-A947-70E740481C1C}">
                <a14:useLocalDpi xmlns:a14="http://schemas.microsoft.com/office/drawing/2010/main" val="0"/>
              </a:ext>
            </a:extLst>
          </a:blip>
          <a:stretch>
            <a:fillRect/>
          </a:stretch>
        </p:blipFill>
        <p:spPr>
          <a:xfrm>
            <a:off x="738575" y="2203281"/>
            <a:ext cx="4654077" cy="3414511"/>
          </a:xfrm>
          <a:prstGeom prst="rect">
            <a:avLst/>
          </a:prstGeom>
        </p:spPr>
      </p:pic>
      <p:pic>
        <p:nvPicPr>
          <p:cNvPr id="25" name="Picture 2" descr="Diagram jawaban Formulir. Judul pertanyaan: 2.Ai is improving student&amp;apos;s grades. Jumlah jawaban: 57 jawaban.">
            <a:extLst>
              <a:ext uri="{FF2B5EF4-FFF2-40B4-BE49-F238E27FC236}">
                <a16:creationId xmlns:a16="http://schemas.microsoft.com/office/drawing/2014/main" xmlns="" id="{72AF6D2B-BCCB-4732-8C4D-CA0C99DA08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697" t="30643" r="54727" b="11122"/>
          <a:stretch/>
        </p:blipFill>
        <p:spPr bwMode="auto">
          <a:xfrm>
            <a:off x="5401778" y="1323437"/>
            <a:ext cx="2996207" cy="2987040"/>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2" descr="Diagram jawaban Formulir. Judul pertanyaan: 1.I am depending on Ai when completing assignment. Jumlah jawaban: 57 jawaban.">
            <a:extLst>
              <a:ext uri="{FF2B5EF4-FFF2-40B4-BE49-F238E27FC236}">
                <a16:creationId xmlns:a16="http://schemas.microsoft.com/office/drawing/2014/main" xmlns="" id="{E11E64E9-F83D-6470-88B4-2CAFCF5D6E42}"/>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8456918" y="1323437"/>
            <a:ext cx="1230286" cy="989214"/>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p:cNvSpPr txBox="1"/>
          <p:nvPr/>
        </p:nvSpPr>
        <p:spPr>
          <a:xfrm>
            <a:off x="5985189" y="954103"/>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55242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4.16667E-7 0.00972 L 0.6651 0.0088 " pathEditMode="fixed" rAng="0" ptsTypes="AA">
                                      <p:cBhvr>
                                        <p:cTn id="6" dur="1000" fill="hold"/>
                                        <p:tgtEl>
                                          <p:spTgt spid="14"/>
                                        </p:tgtEl>
                                        <p:attrNameLst>
                                          <p:attrName>ppt_x</p:attrName>
                                          <p:attrName>ppt_y</p:attrName>
                                        </p:attrNameLst>
                                      </p:cBhvr>
                                      <p:rCtr x="33255" y="-46"/>
                                    </p:animMotion>
                                  </p:childTnLst>
                                </p:cTn>
                              </p:par>
                              <p:par>
                                <p:cTn id="7" presetID="63" presetClass="path" presetSubtype="0" accel="50000" decel="50000" fill="hold" grpId="0" nodeType="withEffect">
                                  <p:stCondLst>
                                    <p:cond delay="0"/>
                                  </p:stCondLst>
                                  <p:childTnLst>
                                    <p:animMotion origin="layout" path="M -8.33333E-7 3.7037E-7 L 0.68945 0.00556 " pathEditMode="fixed" rAng="0" ptsTypes="AA">
                                      <p:cBhvr>
                                        <p:cTn id="8" dur="1000" fill="hold"/>
                                        <p:tgtEl>
                                          <p:spTgt spid="6"/>
                                        </p:tgtEl>
                                        <p:attrNameLst>
                                          <p:attrName>ppt_x</p:attrName>
                                          <p:attrName>ppt_y</p:attrName>
                                        </p:attrNameLst>
                                      </p:cBhvr>
                                      <p:rCtr x="34466" y="278"/>
                                    </p:animMotion>
                                  </p:childTnLst>
                                </p:cTn>
                              </p:par>
                            </p:childTnLst>
                          </p:cTn>
                        </p:par>
                        <p:par>
                          <p:cTn id="9" fill="hold">
                            <p:stCondLst>
                              <p:cond delay="1000"/>
                            </p:stCondLst>
                            <p:childTnLst>
                              <p:par>
                                <p:cTn id="10" presetID="35" presetClass="path" presetSubtype="0" accel="50000" decel="50000" fill="hold" grpId="0" nodeType="afterEffect">
                                  <p:stCondLst>
                                    <p:cond delay="0"/>
                                  </p:stCondLst>
                                  <p:childTnLst>
                                    <p:animMotion origin="layout" path="M 3.33333E-6 0 L -0.7474 0.00463 " pathEditMode="fixed" rAng="0" ptsTypes="AA">
                                      <p:cBhvr>
                                        <p:cTn id="11" dur="1000" fill="hold"/>
                                        <p:tgtEl>
                                          <p:spTgt spid="17"/>
                                        </p:tgtEl>
                                        <p:attrNameLst>
                                          <p:attrName>ppt_x</p:attrName>
                                          <p:attrName>ppt_y</p:attrName>
                                        </p:attrNameLst>
                                      </p:cBhvr>
                                      <p:rCtr x="-36992" y="255"/>
                                    </p:animMotion>
                                  </p:childTnLst>
                                </p:cTn>
                              </p:par>
                              <p:par>
                                <p:cTn id="12" presetID="35" presetClass="path" presetSubtype="0" accel="50000" decel="50000" fill="hold" grpId="0" nodeType="withEffect">
                                  <p:stCondLst>
                                    <p:cond delay="0"/>
                                  </p:stCondLst>
                                  <p:childTnLst>
                                    <p:animMotion origin="layout" path="M -1.25E-6 0 L -0.75729 0.00972 " pathEditMode="fixed" rAng="0" ptsTypes="AA">
                                      <p:cBhvr>
                                        <p:cTn id="13" dur="1000" fill="hold"/>
                                        <p:tgtEl>
                                          <p:spTgt spid="15"/>
                                        </p:tgtEl>
                                        <p:attrNameLst>
                                          <p:attrName>ppt_x</p:attrName>
                                          <p:attrName>ppt_y</p:attrName>
                                        </p:attrNameLst>
                                      </p:cBhvr>
                                      <p:rCtr x="-36706" y="625"/>
                                    </p:animMotion>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6"/>
                                        </p:tgtEl>
                                      </p:cBhvr>
                                    </p:animEffect>
                                    <p:set>
                                      <p:cBhvr>
                                        <p:cTn id="34" dur="1" fill="hold">
                                          <p:stCondLst>
                                            <p:cond delay="499"/>
                                          </p:stCondLst>
                                        </p:cTn>
                                        <p:tgtEl>
                                          <p:spTgt spid="1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24"/>
                                        </p:tgtEl>
                                      </p:cBhvr>
                                    </p:animEffect>
                                    <p:set>
                                      <p:cBhvr>
                                        <p:cTn id="37" dur="1" fill="hold">
                                          <p:stCondLst>
                                            <p:cond delay="499"/>
                                          </p:stCondLst>
                                        </p:cTn>
                                        <p:tgtEl>
                                          <p:spTgt spid="24"/>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27"/>
                                        </p:tgtEl>
                                      </p:cBhvr>
                                    </p:animEffect>
                                    <p:set>
                                      <p:cBhvr>
                                        <p:cTn id="43" dur="1" fill="hold">
                                          <p:stCondLst>
                                            <p:cond delay="499"/>
                                          </p:stCondLst>
                                        </p:cTn>
                                        <p:tgtEl>
                                          <p:spTgt spid="27"/>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29"/>
                                        </p:tgtEl>
                                      </p:cBhvr>
                                    </p:animEffect>
                                    <p:set>
                                      <p:cBhvr>
                                        <p:cTn id="46"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7" grpId="0" animBg="1"/>
      <p:bldP spid="15" grpId="0" animBg="1"/>
      <p:bldP spid="16" grpId="0"/>
      <p:bldP spid="16" grpId="1"/>
      <p:bldP spid="29" grpId="0"/>
      <p:bldP spid="29"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6" name="Isosceles Triangle 5"/>
          <p:cNvSpPr/>
          <p:nvPr/>
        </p:nvSpPr>
        <p:spPr>
          <a:xfrm rot="16200000">
            <a:off x="8113393" y="3183021"/>
            <a:ext cx="1036320" cy="624036"/>
          </a:xfrm>
          <a:prstGeom prst="triangle">
            <a:avLst>
              <a:gd name="adj" fmla="val 47753"/>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39445" y="-2"/>
            <a:ext cx="5202751" cy="1323439"/>
          </a:xfrm>
          <a:prstGeom prst="rect">
            <a:avLst/>
          </a:prstGeom>
        </p:spPr>
        <p:txBody>
          <a:bodyPr wrap="square">
            <a:spAutoFit/>
          </a:bodyPr>
          <a:lstStyle/>
          <a:p>
            <a:pPr algn="ctr"/>
            <a:r>
              <a:rPr lang="en-ID" sz="4000" dirty="0">
                <a:solidFill>
                  <a:schemeClr val="bg1"/>
                </a:solidFill>
                <a:latin typeface="Cooper Black" panose="0208090404030B020404" pitchFamily="18" charset="0"/>
                <a:ea typeface="Microsoft YaHei" panose="020B0503020204020204" pitchFamily="34" charset="-122"/>
              </a:rPr>
              <a:t>Survey in Informatics Class</a:t>
            </a:r>
            <a:endParaRPr lang="en-US" sz="4000" dirty="0">
              <a:solidFill>
                <a:schemeClr val="bg1"/>
              </a:solidFill>
              <a:latin typeface="Cooper Black" panose="0208090404030B020404" pitchFamily="18" charset="0"/>
              <a:ea typeface="Microsoft YaHei" panose="020B0503020204020204" pitchFamily="34" charset="-122"/>
            </a:endParaRPr>
          </a:p>
        </p:txBody>
      </p:sp>
      <p:sp>
        <p:nvSpPr>
          <p:cNvPr id="14" name="Rectangle 13"/>
          <p:cNvSpPr/>
          <p:nvPr/>
        </p:nvSpPr>
        <p:spPr>
          <a:xfrm>
            <a:off x="8943571" y="0"/>
            <a:ext cx="14670809"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17645" y="-519"/>
            <a:ext cx="15003780"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16200000">
            <a:off x="-202024" y="3046303"/>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79245" y="32030"/>
            <a:ext cx="15679604" cy="6858000"/>
          </a:xfrm>
          <a:prstGeom prst="rect">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rot="16200000">
            <a:off x="9603740" y="3046820"/>
            <a:ext cx="1168401" cy="764356"/>
          </a:xfrm>
          <a:prstGeom prst="triangle">
            <a:avLst/>
          </a:prstGeom>
          <a:solidFill>
            <a:srgbClr val="1A41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463230" y="3079540"/>
            <a:ext cx="1956416" cy="830997"/>
          </a:xfrm>
          <a:prstGeom prst="rect">
            <a:avLst/>
          </a:prstGeom>
          <a:noFill/>
        </p:spPr>
        <p:txBody>
          <a:bodyPr wrap="square" rtlCol="0">
            <a:spAutoFit/>
          </a:bodyPr>
          <a:lstStyle/>
          <a:p>
            <a:r>
              <a:rPr lang="en-ID" sz="4800" dirty="0">
                <a:solidFill>
                  <a:schemeClr val="bg1"/>
                </a:solidFill>
                <a:latin typeface="Arial Black" panose="020B0A04020102020204" pitchFamily="34" charset="0"/>
              </a:rPr>
              <a:t>DATA</a:t>
            </a:r>
            <a:endParaRPr lang="en-US" sz="4800" dirty="0">
              <a:solidFill>
                <a:schemeClr val="bg1"/>
              </a:solidFill>
              <a:latin typeface="Arial Black" panose="020B0A04020102020204" pitchFamily="34" charset="0"/>
            </a:endParaRPr>
          </a:p>
        </p:txBody>
      </p:sp>
      <p:sp>
        <p:nvSpPr>
          <p:cNvPr id="2" name="Rectangle 1"/>
          <p:cNvSpPr/>
          <p:nvPr/>
        </p:nvSpPr>
        <p:spPr>
          <a:xfrm>
            <a:off x="1045251" y="624840"/>
            <a:ext cx="4715469" cy="6985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45251" y="769699"/>
            <a:ext cx="6035040" cy="369332"/>
          </a:xfrm>
          <a:prstGeom prst="rect">
            <a:avLst/>
          </a:prstGeom>
          <a:noFill/>
        </p:spPr>
        <p:txBody>
          <a:bodyPr wrap="square" rtlCol="0">
            <a:spAutoFit/>
          </a:bodyPr>
          <a:lstStyle/>
          <a:p>
            <a:r>
              <a:rPr lang="en-ID" dirty="0">
                <a:latin typeface="Arial Rounded MT Bold" panose="020F0704030504030204" pitchFamily="34" charset="0"/>
              </a:rPr>
              <a:t>3.AI increase my grades but not my skill</a:t>
            </a:r>
            <a:endParaRPr lang="en-US" dirty="0">
              <a:latin typeface="Arial Rounded MT Bold" panose="020F0704030504030204" pitchFamily="34" charset="0"/>
            </a:endParaRPr>
          </a:p>
        </p:txBody>
      </p:sp>
      <p:pic>
        <p:nvPicPr>
          <p:cNvPr id="16" name="Picture 15" descr="Diagram jawaban Formulir. Judul pertanyaan: 3.Ai increase my grades but not my skill. Jumlah jawaban: 57 jawaban.">
            <a:extLst>
              <a:ext uri="{FF2B5EF4-FFF2-40B4-BE49-F238E27FC236}">
                <a16:creationId xmlns:a16="http://schemas.microsoft.com/office/drawing/2014/main" xmlns="" id="{8080A545-AE22-77C8-8EB2-0B2401526D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40" t="30120" r="54710" b="10455"/>
          <a:stretch/>
        </p:blipFill>
        <p:spPr bwMode="auto">
          <a:xfrm>
            <a:off x="6986787" y="2474256"/>
            <a:ext cx="3017521" cy="3048000"/>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2" descr="Diagram jawaban Formulir. Judul pertanyaan: 1.I am depending on Ai when completing assignment. Jumlah jawaban: 57 jawaban.">
            <a:extLst>
              <a:ext uri="{FF2B5EF4-FFF2-40B4-BE49-F238E27FC236}">
                <a16:creationId xmlns:a16="http://schemas.microsoft.com/office/drawing/2014/main" xmlns="" id="{E11E64E9-F83D-6470-88B4-2CAFCF5D6E4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4351" b="50541" l="60565" r="75228">
                        <a14:foregroundMark x1="63798" y1="33442" x2="63798" y2="33442"/>
                        <a14:foregroundMark x1="63980" y1="45455" x2="63980" y2="45455"/>
                        <a14:foregroundMark x1="66075" y1="32684" x2="66075" y2="32684"/>
                        <a14:foregroundMark x1="66849" y1="32035" x2="66849" y2="32035"/>
                        <a14:foregroundMark x1="67623" y1="32251" x2="67623" y2="32251"/>
                        <a14:foregroundMark x1="67168" y1="37554" x2="67168" y2="37554"/>
                        <a14:foregroundMark x1="66576" y1="38636" x2="66576" y2="38636"/>
                        <a14:foregroundMark x1="66530" y1="44697" x2="66530" y2="44697"/>
                        <a14:foregroundMark x1="66894" y1="44913" x2="66894" y2="44913"/>
                        <a14:foregroundMark x1="67851" y1="44697" x2="67851" y2="44697"/>
                        <a14:foregroundMark x1="69035" y1="44589" x2="69035" y2="44589"/>
                        <a14:foregroundMark x1="69900" y1="45238" x2="69900" y2="45238"/>
                        <a14:foregroundMark x1="70719" y1="45346" x2="70719" y2="45346"/>
                        <a14:foregroundMark x1="71311" y1="45238" x2="71311" y2="45238"/>
                        <a14:backgroundMark x1="67031" y1="32359" x2="67031" y2="32359"/>
                        <a14:backgroundMark x1="71585" y1="44805" x2="71585" y2="44805"/>
                      </a14:backgroundRemoval>
                    </a14:imgEffect>
                  </a14:imgLayer>
                </a14:imgProps>
              </a:ext>
              <a:ext uri="{28A0092B-C50C-407E-A947-70E740481C1C}">
                <a14:useLocalDpi xmlns:a14="http://schemas.microsoft.com/office/drawing/2010/main" val="0"/>
              </a:ext>
            </a:extLst>
          </a:blip>
          <a:srcRect l="63000" t="28866" r="26909" b="51848"/>
          <a:stretch/>
        </p:blipFill>
        <p:spPr bwMode="auto">
          <a:xfrm>
            <a:off x="9061491" y="1453012"/>
            <a:ext cx="1230286" cy="98921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68536" y="2093138"/>
            <a:ext cx="5182174" cy="4530168"/>
          </a:xfrm>
          <a:prstGeom prst="rect">
            <a:avLst/>
          </a:prstGeom>
        </p:spPr>
      </p:pic>
      <p:sp>
        <p:nvSpPr>
          <p:cNvPr id="22" name="TextBox 21"/>
          <p:cNvSpPr txBox="1"/>
          <p:nvPr/>
        </p:nvSpPr>
        <p:spPr>
          <a:xfrm>
            <a:off x="7435615" y="1947619"/>
            <a:ext cx="176784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58 Answer</a:t>
            </a:r>
            <a:endParaRPr lang="en-US"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51168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1.66667E-6 0 L 0.71771 0.00231 " pathEditMode="relative" rAng="0" ptsTypes="AA">
                                      <p:cBhvr>
                                        <p:cTn id="6" dur="1000" fill="hold"/>
                                        <p:tgtEl>
                                          <p:spTgt spid="15"/>
                                        </p:tgtEl>
                                        <p:attrNameLst>
                                          <p:attrName>ppt_x</p:attrName>
                                          <p:attrName>ppt_y</p:attrName>
                                        </p:attrNameLst>
                                      </p:cBhvr>
                                      <p:rCtr x="35885" y="116"/>
                                    </p:animMotion>
                                  </p:childTnLst>
                                </p:cTn>
                              </p:par>
                              <p:par>
                                <p:cTn id="7" presetID="63" presetClass="path" presetSubtype="0" accel="50000" decel="50000" fill="hold" grpId="0" nodeType="withEffect">
                                  <p:stCondLst>
                                    <p:cond delay="0"/>
                                  </p:stCondLst>
                                  <p:childTnLst>
                                    <p:animMotion origin="layout" path="M -0.00312 1.48148E-6 L 0.72487 0.00023 " pathEditMode="fixed" rAng="0" ptsTypes="AA">
                                      <p:cBhvr>
                                        <p:cTn id="8" dur="1000" fill="hold"/>
                                        <p:tgtEl>
                                          <p:spTgt spid="17"/>
                                        </p:tgtEl>
                                        <p:attrNameLst>
                                          <p:attrName>ppt_x</p:attrName>
                                          <p:attrName>ppt_y</p:attrName>
                                        </p:attrNameLst>
                                      </p:cBhvr>
                                      <p:rCtr x="36393" y="0"/>
                                    </p:animMotion>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par>
                                <p:cTn id="14" presetID="35" presetClass="path" presetSubtype="0" accel="50000" decel="50000" fill="hold" grpId="0" nodeType="withEffect">
                                  <p:stCondLst>
                                    <p:cond delay="0"/>
                                  </p:stCondLst>
                                  <p:childTnLst>
                                    <p:animMotion origin="layout" path="M 2.91667E-6 0 L -0.80742 -0.00023 " pathEditMode="fixed" rAng="0" ptsTypes="AA">
                                      <p:cBhvr>
                                        <p:cTn id="15" dur="1000" fill="hold"/>
                                        <p:tgtEl>
                                          <p:spTgt spid="19"/>
                                        </p:tgtEl>
                                        <p:attrNameLst>
                                          <p:attrName>ppt_x</p:attrName>
                                          <p:attrName>ppt_y</p:attrName>
                                        </p:attrNameLst>
                                      </p:cBhvr>
                                      <p:rCtr x="-40221" y="93"/>
                                    </p:animMotion>
                                  </p:childTnLst>
                                </p:cTn>
                              </p:par>
                              <p:par>
                                <p:cTn id="16" presetID="35" presetClass="path" presetSubtype="0" accel="50000" decel="50000" fill="hold" grpId="0" nodeType="withEffect">
                                  <p:stCondLst>
                                    <p:cond delay="0"/>
                                  </p:stCondLst>
                                  <p:childTnLst>
                                    <p:animMotion origin="layout" path="M 0.02734 3.7037E-7 L -0.80104 -0.00463 " pathEditMode="fixed" rAng="0" ptsTypes="AA">
                                      <p:cBhvr>
                                        <p:cTn id="17" dur="1000" fill="hold"/>
                                        <p:tgtEl>
                                          <p:spTgt spid="18"/>
                                        </p:tgtEl>
                                        <p:attrNameLst>
                                          <p:attrName>ppt_x</p:attrName>
                                          <p:attrName>ppt_y</p:attrName>
                                        </p:attrNameLst>
                                      </p:cBhvr>
                                      <p:rCtr x="-41419" y="-231"/>
                                    </p:animMotion>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2"/>
                                        </p:tgtEl>
                                      </p:cBhvr>
                                    </p:animEffect>
                                    <p:set>
                                      <p:cBhvr>
                                        <p:cTn id="41" dur="1" fill="hold">
                                          <p:stCondLst>
                                            <p:cond delay="499"/>
                                          </p:stCondLst>
                                        </p:cTn>
                                        <p:tgtEl>
                                          <p:spTgt spid="2"/>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10"/>
                                        </p:tgtEl>
                                      </p:cBhvr>
                                    </p:animEffect>
                                    <p:set>
                                      <p:cBhvr>
                                        <p:cTn id="47" dur="1" fill="hold">
                                          <p:stCondLst>
                                            <p:cond delay="499"/>
                                          </p:stCondLst>
                                        </p:cTn>
                                        <p:tgtEl>
                                          <p:spTgt spid="1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3"/>
                                        </p:tgtEl>
                                      </p:cBhvr>
                                    </p:animEffect>
                                    <p:set>
                                      <p:cBhvr>
                                        <p:cTn id="50" dur="1" fill="hold">
                                          <p:stCondLst>
                                            <p:cond delay="499"/>
                                          </p:stCondLst>
                                        </p:cTn>
                                        <p:tgtEl>
                                          <p:spTgt spid="3"/>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20"/>
                                        </p:tgtEl>
                                      </p:cBhvr>
                                    </p:animEffect>
                                    <p:set>
                                      <p:cBhvr>
                                        <p:cTn id="53" dur="1" fill="hold">
                                          <p:stCondLst>
                                            <p:cond delay="499"/>
                                          </p:stCondLst>
                                        </p:cTn>
                                        <p:tgtEl>
                                          <p:spTgt spid="20"/>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500"/>
                                        <p:tgtEl>
                                          <p:spTgt spid="22"/>
                                        </p:tgtEl>
                                      </p:cBhvr>
                                    </p:animEffect>
                                    <p:set>
                                      <p:cBhvr>
                                        <p:cTn id="5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13" grpId="0"/>
      <p:bldP spid="2" grpId="0" animBg="1"/>
      <p:bldP spid="2" grpId="1" animBg="1"/>
      <p:bldP spid="10" grpId="0"/>
      <p:bldP spid="10" grpId="1"/>
      <p:bldP spid="22" grpId="0"/>
      <p:bldP spid="22"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6000">
              <a:schemeClr val="tx2">
                <a:lumMod val="75000"/>
                <a:lumOff val="25000"/>
              </a:schemeClr>
            </a:gs>
            <a:gs pos="20000">
              <a:schemeClr val="accent1">
                <a:lumMod val="45000"/>
                <a:lumOff val="55000"/>
              </a:schemeClr>
            </a:gs>
            <a:gs pos="67000">
              <a:schemeClr val="tx2">
                <a:lumMod val="75000"/>
                <a:lumOff val="25000"/>
              </a:schemeClr>
            </a:gs>
            <a:gs pos="87000">
              <a:schemeClr val="tx2">
                <a:lumMod val="90000"/>
                <a:lumOff val="10000"/>
              </a:schemeClr>
            </a:gs>
          </a:gsLst>
          <a:lin ang="5400000" scaled="1"/>
        </a:gradFill>
        <a:effectLst/>
      </p:bgPr>
    </p:bg>
    <p:spTree>
      <p:nvGrpSpPr>
        <p:cNvPr id="1" name=""/>
        <p:cNvGrpSpPr/>
        <p:nvPr/>
      </p:nvGrpSpPr>
      <p:grpSpPr>
        <a:xfrm>
          <a:off x="0" y="0"/>
          <a:ext cx="0" cy="0"/>
          <a:chOff x="0" y="0"/>
          <a:chExt cx="0" cy="0"/>
        </a:xfrm>
      </p:grpSpPr>
      <p:grpSp>
        <p:nvGrpSpPr>
          <p:cNvPr id="21" name="Group 20"/>
          <p:cNvGrpSpPr/>
          <p:nvPr/>
        </p:nvGrpSpPr>
        <p:grpSpPr>
          <a:xfrm>
            <a:off x="10456175" y="4527496"/>
            <a:ext cx="1735825" cy="3321089"/>
            <a:chOff x="10053097" y="-715118"/>
            <a:chExt cx="1735825" cy="3321089"/>
          </a:xfrm>
        </p:grpSpPr>
        <p:sp>
          <p:nvSpPr>
            <p:cNvPr id="22" name="Rectangle 21"/>
            <p:cNvSpPr/>
            <p:nvPr/>
          </p:nvSpPr>
          <p:spPr>
            <a:xfrm rot="18941903">
              <a:off x="11270690" y="-373485"/>
              <a:ext cx="518232" cy="105350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rot="18941903">
              <a:off x="11001045" y="-715118"/>
              <a:ext cx="518232" cy="332108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rot="18980827">
              <a:off x="10053097" y="73619"/>
              <a:ext cx="583908" cy="214778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ounded Rectangle 49"/>
          <p:cNvSpPr/>
          <p:nvPr/>
        </p:nvSpPr>
        <p:spPr>
          <a:xfrm>
            <a:off x="3546263" y="3797739"/>
            <a:ext cx="5821680" cy="18796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3647440" y="3923013"/>
            <a:ext cx="6096000" cy="1754326"/>
          </a:xfrm>
          <a:prstGeom prst="rect">
            <a:avLst/>
          </a:prstGeom>
        </p:spPr>
        <p:txBody>
          <a:bodyPr>
            <a:spAutoFit/>
          </a:bodyPr>
          <a:lstStyle/>
          <a:p>
            <a:r>
              <a:rPr lang="en-US" dirty="0">
                <a:solidFill>
                  <a:schemeClr val="bg1"/>
                </a:solidFill>
                <a:latin typeface="Arial Black" panose="020B0A04020102020204" pitchFamily="34" charset="0"/>
              </a:rPr>
              <a:t>Question 1: Why do you use AI to explain lessons? Doesn’t your lecturer explain them clearly enough?</a:t>
            </a:r>
          </a:p>
          <a:p>
            <a:endParaRPr lang="en-US" dirty="0">
              <a:solidFill>
                <a:schemeClr val="bg1"/>
              </a:solidFill>
              <a:latin typeface="Arial Black" panose="020B0A04020102020204" pitchFamily="34" charset="0"/>
            </a:endParaRPr>
          </a:p>
          <a:p>
            <a:r>
              <a:rPr lang="en-US" dirty="0">
                <a:solidFill>
                  <a:schemeClr val="bg1"/>
                </a:solidFill>
                <a:latin typeface="Arial Black" panose="020B0A04020102020204" pitchFamily="34" charset="0"/>
              </a:rPr>
              <a:t>Question 2: How do you use AI without becoming  dependent on it?</a:t>
            </a:r>
          </a:p>
        </p:txBody>
      </p:sp>
      <p:grpSp>
        <p:nvGrpSpPr>
          <p:cNvPr id="36" name="Zaki"/>
          <p:cNvGrpSpPr/>
          <p:nvPr/>
        </p:nvGrpSpPr>
        <p:grpSpPr>
          <a:xfrm>
            <a:off x="650032" y="-6017742"/>
            <a:ext cx="2736335" cy="8380133"/>
            <a:chOff x="446832" y="-2268701"/>
            <a:chExt cx="2736335" cy="8380132"/>
          </a:xfrm>
        </p:grpSpPr>
        <p:sp>
          <p:nvSpPr>
            <p:cNvPr id="25" name="Rectangle: Top Corners Rounded 8">
              <a:extLst>
                <a:ext uri="{FF2B5EF4-FFF2-40B4-BE49-F238E27FC236}">
                  <a16:creationId xmlns:a16="http://schemas.microsoft.com/office/drawing/2014/main" xmlns="" id="{EA84A6AC-036F-8676-CF9B-37A765894A4B}"/>
                </a:ext>
              </a:extLst>
            </p:cNvPr>
            <p:cNvSpPr/>
            <p:nvPr/>
          </p:nvSpPr>
          <p:spPr>
            <a:xfrm rot="10800000">
              <a:off x="486135" y="-2268701"/>
              <a:ext cx="2697032" cy="8380132"/>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07702" y="3783959"/>
              <a:ext cx="2053898" cy="20144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89949" y="4468502"/>
              <a:ext cx="1477991" cy="646331"/>
            </a:xfrm>
            <a:prstGeom prst="rect">
              <a:avLst/>
            </a:prstGeom>
            <a:noFill/>
          </p:spPr>
          <p:txBody>
            <a:bodyPr wrap="square" rtlCol="0">
              <a:spAutoFit/>
            </a:bodyPr>
            <a:lstStyle/>
            <a:p>
              <a:r>
                <a:rPr lang="en-ID" sz="3600" dirty="0" err="1" smtClean="0">
                  <a:latin typeface="Cooper Black" panose="0208090404030B020404" pitchFamily="18" charset="0"/>
                </a:rPr>
                <a:t>Zaki</a:t>
              </a:r>
              <a:endParaRPr lang="en-US" sz="3600" dirty="0">
                <a:latin typeface="Cooper Black" panose="0208090404030B020404" pitchFamily="18" charset="0"/>
              </a:endParaRPr>
            </a:p>
          </p:txBody>
        </p:sp>
        <p:sp>
          <p:nvSpPr>
            <p:cNvPr id="19" name="Rectangle 18"/>
            <p:cNvSpPr/>
            <p:nvPr/>
          </p:nvSpPr>
          <p:spPr>
            <a:xfrm>
              <a:off x="446832" y="-2"/>
              <a:ext cx="2699574" cy="3139320"/>
            </a:xfrm>
            <a:prstGeom prst="rect">
              <a:avLst/>
            </a:prstGeom>
            <a:ln>
              <a:noFill/>
            </a:ln>
          </p:spPr>
          <p:txBody>
            <a:bodyPr wrap="square">
              <a:spAutoFit/>
            </a:bodyPr>
            <a:lstStyle/>
            <a:p>
              <a:r>
                <a:rPr lang="en-US" dirty="0">
                  <a:solidFill>
                    <a:schemeClr val="bg1"/>
                  </a:solidFill>
                  <a:latin typeface="Segoe UI Black" panose="020B0A02040204020203" pitchFamily="34" charset="0"/>
                  <a:ea typeface="Segoe UI Black" panose="020B0A02040204020203" pitchFamily="34" charset="0"/>
                </a:rPr>
                <a:t>Answer 1:  I use AI to answer questions I might get after class, as my wild ideas often comes to me after class.</a:t>
              </a:r>
            </a:p>
            <a:p>
              <a:endParaRPr lang="en-US" dirty="0">
                <a:solidFill>
                  <a:schemeClr val="bg1"/>
                </a:solidFill>
                <a:latin typeface="Segoe UI Black" panose="020B0A02040204020203" pitchFamily="34" charset="0"/>
                <a:ea typeface="Segoe UI Black" panose="020B0A02040204020203" pitchFamily="34" charset="0"/>
              </a:endParaRPr>
            </a:p>
            <a:p>
              <a:r>
                <a:rPr lang="en-US" dirty="0">
                  <a:solidFill>
                    <a:schemeClr val="bg1"/>
                  </a:solidFill>
                  <a:latin typeface="Segoe UI Black" panose="020B0A02040204020203" pitchFamily="34" charset="0"/>
                  <a:ea typeface="Segoe UI Black" panose="020B0A02040204020203" pitchFamily="34" charset="0"/>
                </a:rPr>
                <a:t>Answer 2: I don’t relay on AI but I use it because it can provide answer quickly.</a:t>
              </a:r>
            </a:p>
          </p:txBody>
        </p:sp>
      </p:grpSp>
      <p:grpSp>
        <p:nvGrpSpPr>
          <p:cNvPr id="37" name="Amazia"/>
          <p:cNvGrpSpPr/>
          <p:nvPr/>
        </p:nvGrpSpPr>
        <p:grpSpPr>
          <a:xfrm>
            <a:off x="8756375" y="-7574692"/>
            <a:ext cx="2699996" cy="9937084"/>
            <a:chOff x="486135" y="-3825652"/>
            <a:chExt cx="2699996" cy="9937084"/>
          </a:xfrm>
        </p:grpSpPr>
        <p:sp>
          <p:nvSpPr>
            <p:cNvPr id="38" name="Rectangle: Top Corners Rounded 8">
              <a:extLst>
                <a:ext uri="{FF2B5EF4-FFF2-40B4-BE49-F238E27FC236}">
                  <a16:creationId xmlns:a16="http://schemas.microsoft.com/office/drawing/2014/main" xmlns="" id="{EA84A6AC-036F-8676-CF9B-37A765894A4B}"/>
                </a:ext>
              </a:extLst>
            </p:cNvPr>
            <p:cNvSpPr/>
            <p:nvPr/>
          </p:nvSpPr>
          <p:spPr>
            <a:xfrm rot="10800000">
              <a:off x="486135" y="-3825652"/>
              <a:ext cx="2697032" cy="9937084"/>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07702" y="3783959"/>
              <a:ext cx="2053898" cy="201447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929166" y="4483015"/>
              <a:ext cx="2093218" cy="646331"/>
            </a:xfrm>
            <a:prstGeom prst="rect">
              <a:avLst/>
            </a:prstGeom>
            <a:noFill/>
            <a:ln>
              <a:noFill/>
            </a:ln>
          </p:spPr>
          <p:txBody>
            <a:bodyPr wrap="square" rtlCol="0">
              <a:spAutoFit/>
            </a:bodyPr>
            <a:lstStyle/>
            <a:p>
              <a:r>
                <a:rPr lang="en-ID" sz="3600" dirty="0" err="1" smtClean="0">
                  <a:latin typeface="Cooper Black" panose="0208090404030B020404" pitchFamily="18" charset="0"/>
                </a:rPr>
                <a:t>Amazia</a:t>
              </a:r>
              <a:endParaRPr lang="en-US" sz="3600" dirty="0">
                <a:latin typeface="Cooper Black" panose="0208090404030B020404" pitchFamily="18" charset="0"/>
              </a:endParaRPr>
            </a:p>
          </p:txBody>
        </p:sp>
        <p:sp>
          <p:nvSpPr>
            <p:cNvPr id="41" name="Rectangle 40"/>
            <p:cNvSpPr/>
            <p:nvPr/>
          </p:nvSpPr>
          <p:spPr>
            <a:xfrm>
              <a:off x="486558" y="-235754"/>
              <a:ext cx="2699573" cy="4001095"/>
            </a:xfrm>
            <a:prstGeom prst="rect">
              <a:avLst/>
            </a:prstGeom>
            <a:ln>
              <a:noFill/>
            </a:ln>
          </p:spPr>
          <p:txBody>
            <a:bodyPr wrap="square">
              <a:spAutoFit/>
            </a:bodyPr>
            <a:lstStyle/>
            <a:p>
              <a:r>
                <a:rPr lang="en-US" sz="1600" dirty="0" smtClean="0">
                  <a:solidFill>
                    <a:schemeClr val="bg1"/>
                  </a:solidFill>
                  <a:latin typeface="Segoe UI Black" panose="020B0A02040204020203" pitchFamily="34" charset="0"/>
                  <a:ea typeface="Segoe UI Black" panose="020B0A02040204020203" pitchFamily="34" charset="0"/>
                </a:rPr>
                <a:t>Answer 1: </a:t>
              </a:r>
              <a:r>
                <a:rPr lang="en-US" sz="1400" dirty="0" smtClean="0">
                  <a:solidFill>
                    <a:schemeClr val="bg1"/>
                  </a:solidFill>
                  <a:latin typeface="Segoe UI Black" panose="020B0A02040204020203" pitchFamily="34" charset="0"/>
                  <a:ea typeface="Segoe UI Black" panose="020B0A02040204020203" pitchFamily="34" charset="0"/>
                </a:rPr>
                <a:t>I </a:t>
              </a:r>
              <a:r>
                <a:rPr lang="en-US" sz="1400" dirty="0">
                  <a:solidFill>
                    <a:schemeClr val="bg1"/>
                  </a:solidFill>
                  <a:latin typeface="Segoe UI Black" panose="020B0A02040204020203" pitchFamily="34" charset="0"/>
                  <a:ea typeface="Segoe UI Black" panose="020B0A02040204020203" pitchFamily="34" charset="0"/>
                </a:rPr>
                <a:t>use AI because the time inside the class is limited. Sometimes there are interactive questions that cannot be explored during class, so I use AI to understand those problems more deeply</a:t>
              </a:r>
              <a:r>
                <a:rPr lang="en-US" sz="1400" dirty="0" smtClean="0">
                  <a:solidFill>
                    <a:schemeClr val="bg1"/>
                  </a:solidFill>
                  <a:latin typeface="Segoe UI Black" panose="020B0A02040204020203" pitchFamily="34" charset="0"/>
                  <a:ea typeface="Segoe UI Black" panose="020B0A02040204020203" pitchFamily="34" charset="0"/>
                </a:rPr>
                <a:t>.</a:t>
              </a:r>
            </a:p>
            <a:p>
              <a:endParaRPr lang="en-US" sz="1400" dirty="0" smtClean="0">
                <a:solidFill>
                  <a:schemeClr val="bg1"/>
                </a:solidFill>
                <a:latin typeface="Segoe UI Black" panose="020B0A02040204020203" pitchFamily="34" charset="0"/>
                <a:ea typeface="Segoe UI Black" panose="020B0A02040204020203" pitchFamily="34" charset="0"/>
              </a:endParaRPr>
            </a:p>
            <a:p>
              <a:r>
                <a:rPr lang="en-US" sz="1400" dirty="0" smtClean="0">
                  <a:solidFill>
                    <a:schemeClr val="bg1"/>
                  </a:solidFill>
                  <a:latin typeface="Segoe UI Black" panose="020B0A02040204020203" pitchFamily="34" charset="0"/>
                  <a:ea typeface="Segoe UI Black" panose="020B0A02040204020203" pitchFamily="34" charset="0"/>
                </a:rPr>
                <a:t>Answer 2 : </a:t>
              </a:r>
              <a:r>
                <a:rPr lang="en-US" sz="1400" dirty="0">
                  <a:solidFill>
                    <a:schemeClr val="bg1"/>
                  </a:solidFill>
                  <a:latin typeface="Segoe UI Black" panose="020B0A02040204020203" pitchFamily="34" charset="0"/>
                  <a:ea typeface="Segoe UI Black" panose="020B0A02040204020203" pitchFamily="34" charset="0"/>
                </a:rPr>
                <a:t>I need to set a mindset that I shouldn’t depend on AI, because if I rely on it too much, I will lose my critical thinking. The way I avoid that is by limiting what I use AI for. I shouldn’t use AI to answer everything.</a:t>
              </a:r>
            </a:p>
          </p:txBody>
        </p:sp>
      </p:grpSp>
      <p:grpSp>
        <p:nvGrpSpPr>
          <p:cNvPr id="42" name="Dilon"/>
          <p:cNvGrpSpPr/>
          <p:nvPr/>
        </p:nvGrpSpPr>
        <p:grpSpPr>
          <a:xfrm>
            <a:off x="4696501" y="-7376984"/>
            <a:ext cx="2916795" cy="9739380"/>
            <a:chOff x="476891" y="-3627948"/>
            <a:chExt cx="2916795" cy="9739380"/>
          </a:xfrm>
        </p:grpSpPr>
        <p:sp>
          <p:nvSpPr>
            <p:cNvPr id="43" name="Rectangle: Top Corners Rounded 8">
              <a:extLst>
                <a:ext uri="{FF2B5EF4-FFF2-40B4-BE49-F238E27FC236}">
                  <a16:creationId xmlns:a16="http://schemas.microsoft.com/office/drawing/2014/main" xmlns="" id="{EA84A6AC-036F-8676-CF9B-37A765894A4B}"/>
                </a:ext>
              </a:extLst>
            </p:cNvPr>
            <p:cNvSpPr/>
            <p:nvPr/>
          </p:nvSpPr>
          <p:spPr>
            <a:xfrm rot="10800000">
              <a:off x="486135" y="-3627948"/>
              <a:ext cx="2697032" cy="9739380"/>
            </a:xfrm>
            <a:prstGeom prst="round2SameRect">
              <a:avLst>
                <a:gd name="adj1" fmla="val 50000"/>
                <a:gd name="adj2" fmla="val 0"/>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807702" y="3783959"/>
              <a:ext cx="2053898" cy="201447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1089949" y="4468502"/>
              <a:ext cx="1690681" cy="646331"/>
            </a:xfrm>
            <a:prstGeom prst="rect">
              <a:avLst/>
            </a:prstGeom>
            <a:noFill/>
            <a:ln>
              <a:noFill/>
            </a:ln>
          </p:spPr>
          <p:txBody>
            <a:bodyPr wrap="square" rtlCol="0">
              <a:spAutoFit/>
            </a:bodyPr>
            <a:lstStyle/>
            <a:p>
              <a:r>
                <a:rPr lang="en-ID" sz="3600" dirty="0" smtClean="0">
                  <a:latin typeface="Cooper Black" panose="0208090404030B020404" pitchFamily="18" charset="0"/>
                </a:rPr>
                <a:t>Dillon</a:t>
              </a:r>
              <a:endParaRPr lang="en-US" sz="3600" dirty="0">
                <a:latin typeface="Cooper Black" panose="0208090404030B020404" pitchFamily="18" charset="0"/>
              </a:endParaRPr>
            </a:p>
          </p:txBody>
        </p:sp>
        <p:sp>
          <p:nvSpPr>
            <p:cNvPr id="46" name="Rectangle 45"/>
            <p:cNvSpPr/>
            <p:nvPr/>
          </p:nvSpPr>
          <p:spPr>
            <a:xfrm>
              <a:off x="476891" y="-10"/>
              <a:ext cx="2916795" cy="4031873"/>
            </a:xfrm>
            <a:prstGeom prst="rect">
              <a:avLst/>
            </a:prstGeom>
            <a:ln>
              <a:noFill/>
            </a:ln>
          </p:spPr>
          <p:txBody>
            <a:bodyPr wrap="square">
              <a:spAutoFit/>
            </a:bodyPr>
            <a:lstStyle/>
            <a:p>
              <a:r>
                <a:rPr lang="en-US" sz="1600" dirty="0">
                  <a:solidFill>
                    <a:schemeClr val="bg1"/>
                  </a:solidFill>
                  <a:latin typeface="Segoe UI Black" panose="020B0A02040204020203" pitchFamily="34" charset="0"/>
                  <a:ea typeface="Segoe UI Black" panose="020B0A02040204020203" pitchFamily="34" charset="0"/>
                </a:rPr>
                <a:t>Answer 1: I only use AI and only if I didn’t understand my lesson completely by the time I was learning it during class.</a:t>
              </a:r>
            </a:p>
            <a:p>
              <a:endParaRPr lang="en-US" sz="1600" dirty="0">
                <a:solidFill>
                  <a:schemeClr val="bg1"/>
                </a:solidFill>
                <a:latin typeface="Segoe UI Black" panose="020B0A02040204020203" pitchFamily="34" charset="0"/>
                <a:ea typeface="Segoe UI Black" panose="020B0A02040204020203" pitchFamily="34" charset="0"/>
              </a:endParaRPr>
            </a:p>
            <a:p>
              <a:r>
                <a:rPr lang="en-US" sz="1600" dirty="0">
                  <a:solidFill>
                    <a:schemeClr val="bg1"/>
                  </a:solidFill>
                  <a:latin typeface="Segoe UI Black" panose="020B0A02040204020203" pitchFamily="34" charset="0"/>
                  <a:ea typeface="Segoe UI Black" panose="020B0A02040204020203" pitchFamily="34" charset="0"/>
                </a:rPr>
                <a:t>Answer 2: The simples solution to that problem would be to not use AI at all, if is AI function ability that may some so good in a first place then the best Way to not get dependent on something like AI is to not use them all.</a:t>
              </a:r>
            </a:p>
            <a:p>
              <a:endParaRPr lang="en-US" sz="1600" dirty="0">
                <a:solidFill>
                  <a:schemeClr val="bg1"/>
                </a:solidFill>
                <a:latin typeface="Segoe UI Black" panose="020B0A02040204020203" pitchFamily="34" charset="0"/>
                <a:ea typeface="Segoe UI Black" panose="020B0A02040204020203" pitchFamily="34" charset="0"/>
              </a:endParaRPr>
            </a:p>
          </p:txBody>
        </p:sp>
      </p:grpSp>
      <p:sp>
        <p:nvSpPr>
          <p:cNvPr id="48" name="Rounded Rectangle 47"/>
          <p:cNvSpPr/>
          <p:nvPr/>
        </p:nvSpPr>
        <p:spPr>
          <a:xfrm>
            <a:off x="4588933" y="5990340"/>
            <a:ext cx="3496734" cy="723727"/>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4625340" y="5990340"/>
            <a:ext cx="3663527" cy="707886"/>
          </a:xfrm>
          <a:prstGeom prst="rect">
            <a:avLst/>
          </a:prstGeom>
          <a:noFill/>
        </p:spPr>
        <p:txBody>
          <a:bodyPr wrap="square" rtlCol="0">
            <a:spAutoFit/>
          </a:bodyPr>
          <a:lstStyle/>
          <a:p>
            <a:r>
              <a:rPr lang="en-ID" sz="4000" dirty="0" smtClean="0">
                <a:solidFill>
                  <a:schemeClr val="accent1">
                    <a:lumMod val="40000"/>
                    <a:lumOff val="60000"/>
                  </a:schemeClr>
                </a:solidFill>
                <a:latin typeface="Cooper Black" panose="0208090404030B020404" pitchFamily="18" charset="0"/>
              </a:rPr>
              <a:t>INTERVIEW</a:t>
            </a:r>
            <a:endParaRPr lang="en-US" sz="4000" dirty="0">
              <a:solidFill>
                <a:schemeClr val="accent1">
                  <a:lumMod val="40000"/>
                  <a:lumOff val="60000"/>
                </a:schemeClr>
              </a:solidFill>
              <a:latin typeface="Cooper Black" panose="0208090404030B020404" pitchFamily="18" charset="0"/>
            </a:endParaRPr>
          </a:p>
        </p:txBody>
      </p:sp>
      <p:grpSp>
        <p:nvGrpSpPr>
          <p:cNvPr id="29" name="Group 28"/>
          <p:cNvGrpSpPr/>
          <p:nvPr/>
        </p:nvGrpSpPr>
        <p:grpSpPr>
          <a:xfrm>
            <a:off x="-432887" y="6006141"/>
            <a:ext cx="1443789" cy="1415851"/>
            <a:chOff x="-260575" y="-344659"/>
            <a:chExt cx="1443789" cy="1415851"/>
          </a:xfrm>
        </p:grpSpPr>
        <p:sp>
          <p:nvSpPr>
            <p:cNvPr id="30" name="Oval 29"/>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6719878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9167E-6 -4.81481E-6 L -0.00286 0.60487 " pathEditMode="relative" rAng="0" ptsTypes="AA">
                                      <p:cBhvr>
                                        <p:cTn id="6" dur="1000" fill="hold"/>
                                        <p:tgtEl>
                                          <p:spTgt spid="36"/>
                                        </p:tgtEl>
                                        <p:attrNameLst>
                                          <p:attrName>ppt_x</p:attrName>
                                          <p:attrName>ppt_y</p:attrName>
                                        </p:attrNameLst>
                                      </p:cBhvr>
                                      <p:rCtr x="-143" y="30231"/>
                                    </p:animMotion>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nodeType="clickEffect">
                                  <p:stCondLst>
                                    <p:cond delay="0"/>
                                  </p:stCondLst>
                                  <p:childTnLst>
                                    <p:animMotion origin="layout" path="M -0.00286 0.60487 L -4.79167E-6 -4.81481E-6 " pathEditMode="relative" rAng="0" ptsTypes="AA">
                                      <p:cBhvr>
                                        <p:cTn id="10" dur="1000" fill="hold"/>
                                        <p:tgtEl>
                                          <p:spTgt spid="36"/>
                                        </p:tgtEl>
                                        <p:attrNameLst>
                                          <p:attrName>ppt_x</p:attrName>
                                          <p:attrName>ppt_y</p:attrName>
                                        </p:attrNameLst>
                                      </p:cBhvr>
                                      <p:rCtr x="143" y="-30255"/>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00833 -7.40741E-7 L -0.00143 0.56667 " pathEditMode="relative" rAng="0" ptsTypes="AA">
                                      <p:cBhvr>
                                        <p:cTn id="14" dur="1000" fill="hold"/>
                                        <p:tgtEl>
                                          <p:spTgt spid="42"/>
                                        </p:tgtEl>
                                        <p:attrNameLst>
                                          <p:attrName>ppt_x</p:attrName>
                                          <p:attrName>ppt_y</p:attrName>
                                        </p:attrNameLst>
                                      </p:cBhvr>
                                      <p:rCtr x="-495" y="28333"/>
                                    </p:animMotion>
                                  </p:childTnLst>
                                </p:cTn>
                              </p:par>
                              <p:par>
                                <p:cTn id="15" presetID="10" presetClass="exit" presetSubtype="0" fill="hold" grpId="0" nodeType="withEffect">
                                  <p:stCondLst>
                                    <p:cond delay="0"/>
                                  </p:stCondLst>
                                  <p:childTnLst>
                                    <p:animEffect transition="out" filter="fade">
                                      <p:cBhvr>
                                        <p:cTn id="16" dur="500"/>
                                        <p:tgtEl>
                                          <p:spTgt spid="49"/>
                                        </p:tgtEl>
                                      </p:cBhvr>
                                    </p:animEffect>
                                    <p:set>
                                      <p:cBhvr>
                                        <p:cTn id="17" dur="1" fill="hold">
                                          <p:stCondLst>
                                            <p:cond delay="499"/>
                                          </p:stCondLst>
                                        </p:cTn>
                                        <p:tgtEl>
                                          <p:spTgt spid="49"/>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50"/>
                                        </p:tgtEl>
                                      </p:cBhvr>
                                    </p:animEffect>
                                    <p:set>
                                      <p:cBhvr>
                                        <p:cTn id="20" dur="1" fill="hold">
                                          <p:stCondLst>
                                            <p:cond delay="499"/>
                                          </p:stCondLst>
                                        </p:cTn>
                                        <p:tgtEl>
                                          <p:spTgt spid="5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64" presetClass="path" presetSubtype="0" accel="50000" decel="50000" fill="hold" nodeType="clickEffect">
                                  <p:stCondLst>
                                    <p:cond delay="0"/>
                                  </p:stCondLst>
                                  <p:childTnLst>
                                    <p:animMotion origin="layout" path="M -0.00143 0.56666 L 1.45833E-6 -7.40741E-7 " pathEditMode="relative" rAng="0" ptsTypes="AA">
                                      <p:cBhvr>
                                        <p:cTn id="24" dur="1000" fill="hold"/>
                                        <p:tgtEl>
                                          <p:spTgt spid="42"/>
                                        </p:tgtEl>
                                        <p:attrNameLst>
                                          <p:attrName>ppt_x</p:attrName>
                                          <p:attrName>ppt_y</p:attrName>
                                        </p:attrNameLst>
                                      </p:cBhvr>
                                      <p:rCtr x="-26" y="-28218"/>
                                    </p:animMotion>
                                  </p:childTnLst>
                                </p:cTn>
                              </p:par>
                            </p:childTnLst>
                          </p:cTn>
                        </p:par>
                        <p:par>
                          <p:cTn id="25" fill="hold">
                            <p:stCondLst>
                              <p:cond delay="1000"/>
                            </p:stCondLst>
                            <p:childTnLst>
                              <p:par>
                                <p:cTn id="26" presetID="10" presetClass="entr" presetSubtype="0" fill="hold" grpId="1" nodeType="after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nodeType="clickEffect">
                                  <p:stCondLst>
                                    <p:cond delay="0"/>
                                  </p:stCondLst>
                                  <p:childTnLst>
                                    <p:animMotion origin="layout" path="M 4.16667E-6 1.11111E-6 L 0.00247 0.59421 " pathEditMode="relative" rAng="0" ptsTypes="AA">
                                      <p:cBhvr>
                                        <p:cTn id="35" dur="1000" fill="hold"/>
                                        <p:tgtEl>
                                          <p:spTgt spid="37"/>
                                        </p:tgtEl>
                                        <p:attrNameLst>
                                          <p:attrName>ppt_x</p:attrName>
                                          <p:attrName>ppt_y</p:attrName>
                                        </p:attrNameLst>
                                      </p:cBhvr>
                                      <p:rCtr x="117" y="29722"/>
                                    </p:animMotion>
                                  </p:childTnLst>
                                </p:cTn>
                              </p:par>
                            </p:childTnLst>
                          </p:cTn>
                        </p:par>
                      </p:childTnLst>
                    </p:cTn>
                  </p:par>
                  <p:par>
                    <p:cTn id="36" fill="hold">
                      <p:stCondLst>
                        <p:cond delay="indefinite"/>
                      </p:stCondLst>
                      <p:childTnLst>
                        <p:par>
                          <p:cTn id="37" fill="hold">
                            <p:stCondLst>
                              <p:cond delay="0"/>
                            </p:stCondLst>
                            <p:childTnLst>
                              <p:par>
                                <p:cTn id="38" presetID="64" presetClass="path" presetSubtype="0" accel="50000" decel="50000" fill="hold" nodeType="clickEffect">
                                  <p:stCondLst>
                                    <p:cond delay="0"/>
                                  </p:stCondLst>
                                  <p:childTnLst>
                                    <p:animMotion origin="layout" path="M 0.00247 0.59421 L 2.08333E-7 4.44444E-6 " pathEditMode="relative" rAng="0" ptsTypes="AA">
                                      <p:cBhvr>
                                        <p:cTn id="39" dur="1000" fill="hold"/>
                                        <p:tgtEl>
                                          <p:spTgt spid="37"/>
                                        </p:tgtEl>
                                        <p:attrNameLst>
                                          <p:attrName>ppt_x</p:attrName>
                                          <p:attrName>ppt_y</p:attrName>
                                        </p:attrNameLst>
                                      </p:cBhvr>
                                      <p:rCtr x="0" y="-2919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49" grpId="0"/>
      <p:bldP spid="49"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21" name="Group 20"/>
          <p:cNvGrpSpPr/>
          <p:nvPr/>
        </p:nvGrpSpPr>
        <p:grpSpPr>
          <a:xfrm>
            <a:off x="11616200" y="-718028"/>
            <a:ext cx="698243" cy="3072047"/>
            <a:chOff x="11616200" y="-718028"/>
            <a:chExt cx="698243" cy="3072047"/>
          </a:xfrm>
        </p:grpSpPr>
        <p:sp>
          <p:nvSpPr>
            <p:cNvPr id="19" name="Rounded Rectangle 18"/>
            <p:cNvSpPr/>
            <p:nvPr/>
          </p:nvSpPr>
          <p:spPr>
            <a:xfrm rot="18980827">
              <a:off x="11730535" y="-718028"/>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rot="18980827">
              <a:off x="11616200" y="206230"/>
              <a:ext cx="583908" cy="214778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4089400" y="-198131"/>
            <a:ext cx="4661114" cy="1107996"/>
            <a:chOff x="4313553" y="-164264"/>
            <a:chExt cx="4661114" cy="1107996"/>
          </a:xfrm>
        </p:grpSpPr>
        <p:sp>
          <p:nvSpPr>
            <p:cNvPr id="11" name="Hexagon 10"/>
            <p:cNvSpPr/>
            <p:nvPr/>
          </p:nvSpPr>
          <p:spPr>
            <a:xfrm>
              <a:off x="4313553" y="106101"/>
              <a:ext cx="4538134" cy="567267"/>
            </a:xfrm>
            <a:prstGeom prst="hexagon">
              <a:avLst/>
            </a:prstGeom>
            <a:solidFill>
              <a:srgbClr val="2E75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707467" y="-164264"/>
              <a:ext cx="4267200" cy="1107996"/>
            </a:xfrm>
            <a:prstGeom prst="rect">
              <a:avLst/>
            </a:prstGeom>
            <a:noFill/>
          </p:spPr>
          <p:txBody>
            <a:bodyPr wrap="square" rtlCol="0">
              <a:spAutoFit/>
            </a:bodyPr>
            <a:lstStyle/>
            <a:p>
              <a:r>
                <a:rPr lang="en-ID" sz="6600" dirty="0" smtClean="0">
                  <a:solidFill>
                    <a:schemeClr val="bg1"/>
                  </a:solidFill>
                  <a:latin typeface="AngsanaUPC" panose="02020603050405020304" pitchFamily="18" charset="-34"/>
                  <a:cs typeface="AngsanaUPC" panose="02020603050405020304" pitchFamily="18" charset="-34"/>
                </a:rPr>
                <a:t>COMPARISON</a:t>
              </a:r>
              <a:endParaRPr lang="en-US" sz="6600" dirty="0">
                <a:solidFill>
                  <a:schemeClr val="bg1"/>
                </a:solidFill>
                <a:latin typeface="AngsanaUPC" panose="02020603050405020304" pitchFamily="18" charset="-34"/>
                <a:cs typeface="AngsanaUPC" panose="02020603050405020304" pitchFamily="18" charset="-34"/>
              </a:endParaRPr>
            </a:p>
          </p:txBody>
        </p:sp>
      </p:grpSp>
      <p:sp>
        <p:nvSpPr>
          <p:cNvPr id="4" name="Rounded Rectangle 3"/>
          <p:cNvSpPr/>
          <p:nvPr/>
        </p:nvSpPr>
        <p:spPr>
          <a:xfrm>
            <a:off x="1346627" y="770467"/>
            <a:ext cx="3814020" cy="4758266"/>
          </a:xfrm>
          <a:prstGeom prst="round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p:cNvSpPr/>
          <p:nvPr/>
        </p:nvSpPr>
        <p:spPr>
          <a:xfrm>
            <a:off x="7603067" y="770467"/>
            <a:ext cx="3814020" cy="4758266"/>
          </a:xfrm>
          <a:prstGeom prst="roundRect">
            <a:avLst/>
          </a:prstGeom>
          <a:solidFill>
            <a:schemeClr val="tx2">
              <a:lumMod val="75000"/>
              <a:lumOff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006600" y="1258494"/>
            <a:ext cx="2874647" cy="4401205"/>
          </a:xfrm>
          <a:prstGeom prst="rect">
            <a:avLst/>
          </a:prstGeom>
          <a:noFill/>
        </p:spPr>
        <p:txBody>
          <a:bodyPr wrap="square" rtlCol="0">
            <a:spAutoFit/>
          </a:bodyPr>
          <a:lstStyle/>
          <a:p>
            <a:r>
              <a:rPr lang="en-US" sz="2000" dirty="0" smtClean="0">
                <a:solidFill>
                  <a:schemeClr val="bg1"/>
                </a:solidFill>
                <a:latin typeface="Arial Rounded MT Bold" panose="020F0704030504030204" pitchFamily="34" charset="0"/>
              </a:rPr>
              <a:t> </a:t>
            </a:r>
            <a:r>
              <a:rPr lang="en-US" sz="2000" dirty="0" err="1">
                <a:solidFill>
                  <a:schemeClr val="bg1"/>
                </a:solidFill>
                <a:latin typeface="Arial Rounded MT Bold" panose="020F0704030504030204" pitchFamily="34" charset="0"/>
              </a:rPr>
              <a:t>Zaki</a:t>
            </a:r>
            <a:r>
              <a:rPr lang="en-US" sz="2000" dirty="0">
                <a:solidFill>
                  <a:schemeClr val="bg1"/>
                </a:solidFill>
                <a:latin typeface="Arial Rounded MT Bold" panose="020F0704030504030204" pitchFamily="34" charset="0"/>
              </a:rPr>
              <a:t> and </a:t>
            </a:r>
            <a:r>
              <a:rPr lang="en-US" sz="2000" dirty="0" err="1">
                <a:solidFill>
                  <a:schemeClr val="bg1"/>
                </a:solidFill>
                <a:latin typeface="Arial Rounded MT Bold" panose="020F0704030504030204" pitchFamily="34" charset="0"/>
              </a:rPr>
              <a:t>Amazia</a:t>
            </a:r>
            <a:r>
              <a:rPr lang="en-US" sz="2000" dirty="0">
                <a:solidFill>
                  <a:schemeClr val="bg1"/>
                </a:solidFill>
                <a:latin typeface="Arial Rounded MT Bold" panose="020F0704030504030204" pitchFamily="34" charset="0"/>
              </a:rPr>
              <a:t> both use AI after class, while Dillon only uses it when it is truly necessary. </a:t>
            </a:r>
            <a:r>
              <a:rPr lang="en-US" sz="2000" dirty="0" err="1">
                <a:solidFill>
                  <a:schemeClr val="bg1"/>
                </a:solidFill>
                <a:latin typeface="Arial Rounded MT Bold" panose="020F0704030504030204" pitchFamily="34" charset="0"/>
              </a:rPr>
              <a:t>Amazia</a:t>
            </a:r>
            <a:r>
              <a:rPr lang="en-US" sz="2000" dirty="0">
                <a:solidFill>
                  <a:schemeClr val="bg1"/>
                </a:solidFill>
                <a:latin typeface="Arial Rounded MT Bold" panose="020F0704030504030204" pitchFamily="34" charset="0"/>
              </a:rPr>
              <a:t> provides the most complete explanation regarding the limited time in class, whereas </a:t>
            </a:r>
            <a:r>
              <a:rPr lang="en-US" sz="2000" dirty="0" err="1">
                <a:solidFill>
                  <a:schemeClr val="bg1"/>
                </a:solidFill>
                <a:latin typeface="Arial Rounded MT Bold" panose="020F0704030504030204" pitchFamily="34" charset="0"/>
              </a:rPr>
              <a:t>Zaki</a:t>
            </a:r>
            <a:r>
              <a:rPr lang="en-US" sz="2000" dirty="0">
                <a:solidFill>
                  <a:schemeClr val="bg1"/>
                </a:solidFill>
                <a:latin typeface="Arial Rounded MT Bold" panose="020F0704030504030204" pitchFamily="34" charset="0"/>
              </a:rPr>
              <a:t> focuses more on the new ideas that appear afterward</a:t>
            </a:r>
            <a:r>
              <a:rPr lang="en-US" sz="2000" dirty="0">
                <a:latin typeface="Arial Rounded MT Bold" panose="020F0704030504030204" pitchFamily="34" charset="0"/>
              </a:rPr>
              <a:t>.</a:t>
            </a:r>
          </a:p>
          <a:p>
            <a:endParaRPr lang="en-US" sz="2000" dirty="0"/>
          </a:p>
        </p:txBody>
      </p:sp>
      <p:sp>
        <p:nvSpPr>
          <p:cNvPr id="8" name="TextBox 7"/>
          <p:cNvSpPr txBox="1"/>
          <p:nvPr/>
        </p:nvSpPr>
        <p:spPr>
          <a:xfrm>
            <a:off x="2980267" y="889162"/>
            <a:ext cx="355600" cy="369332"/>
          </a:xfrm>
          <a:prstGeom prst="rect">
            <a:avLst/>
          </a:prstGeom>
          <a:noFill/>
        </p:spPr>
        <p:txBody>
          <a:bodyPr wrap="square" rtlCol="0">
            <a:spAutoFit/>
          </a:bodyPr>
          <a:lstStyle/>
          <a:p>
            <a:r>
              <a:rPr lang="en-ID" dirty="0" smtClean="0">
                <a:solidFill>
                  <a:schemeClr val="bg1"/>
                </a:solidFill>
                <a:latin typeface="Arial Black" panose="020B0A04020102020204" pitchFamily="34" charset="0"/>
              </a:rPr>
              <a:t>1</a:t>
            </a:r>
            <a:endParaRPr lang="en-US" dirty="0">
              <a:solidFill>
                <a:schemeClr val="bg1"/>
              </a:solidFill>
              <a:latin typeface="Arial Black" panose="020B0A04020102020204" pitchFamily="34" charset="0"/>
            </a:endParaRPr>
          </a:p>
        </p:txBody>
      </p:sp>
      <p:sp>
        <p:nvSpPr>
          <p:cNvPr id="9" name="TextBox 8"/>
          <p:cNvSpPr txBox="1"/>
          <p:nvPr/>
        </p:nvSpPr>
        <p:spPr>
          <a:xfrm>
            <a:off x="8038887" y="1205630"/>
            <a:ext cx="3378200" cy="4431983"/>
          </a:xfrm>
          <a:prstGeom prst="rect">
            <a:avLst/>
          </a:prstGeom>
          <a:noFill/>
        </p:spPr>
        <p:txBody>
          <a:bodyPr wrap="square" rtlCol="0">
            <a:spAutoFit/>
          </a:bodyPr>
          <a:lstStyle/>
          <a:p>
            <a:r>
              <a:rPr lang="en-US" sz="2400" dirty="0" smtClean="0">
                <a:solidFill>
                  <a:schemeClr val="bg1"/>
                </a:solidFill>
                <a:latin typeface="Bahnschrift SemiLight" panose="020B0502040204020203" pitchFamily="34" charset="0"/>
              </a:rPr>
              <a:t>Dillon </a:t>
            </a:r>
            <a:r>
              <a:rPr lang="en-US" sz="2400" dirty="0">
                <a:solidFill>
                  <a:schemeClr val="bg1"/>
                </a:solidFill>
                <a:latin typeface="Bahnschrift SemiLight" panose="020B0502040204020203" pitchFamily="34" charset="0"/>
              </a:rPr>
              <a:t>chooses an approach that avoids using AI, </a:t>
            </a:r>
            <a:r>
              <a:rPr lang="en-US" sz="2400" dirty="0" err="1">
                <a:solidFill>
                  <a:schemeClr val="bg1"/>
                </a:solidFill>
                <a:latin typeface="Bahnschrift SemiLight" panose="020B0502040204020203" pitchFamily="34" charset="0"/>
              </a:rPr>
              <a:t>Zaki</a:t>
            </a:r>
            <a:r>
              <a:rPr lang="en-US" sz="2400" dirty="0">
                <a:solidFill>
                  <a:schemeClr val="bg1"/>
                </a:solidFill>
                <a:latin typeface="Bahnschrift SemiLight" panose="020B0502040204020203" pitchFamily="34" charset="0"/>
              </a:rPr>
              <a:t> uses it in a practical way without a clear strategy, and </a:t>
            </a:r>
            <a:r>
              <a:rPr lang="en-US" sz="2400" dirty="0" err="1">
                <a:solidFill>
                  <a:schemeClr val="bg1"/>
                </a:solidFill>
                <a:latin typeface="Bahnschrift SemiLight" panose="020B0502040204020203" pitchFamily="34" charset="0"/>
              </a:rPr>
              <a:t>Amazia</a:t>
            </a:r>
            <a:r>
              <a:rPr lang="en-US" sz="2400" dirty="0">
                <a:solidFill>
                  <a:schemeClr val="bg1"/>
                </a:solidFill>
                <a:latin typeface="Bahnschrift SemiLight" panose="020B0502040204020203" pitchFamily="34" charset="0"/>
              </a:rPr>
              <a:t> shows the healthiest and most balanced way of using AI by developing a mindset that does not depend on it</a:t>
            </a:r>
            <a:r>
              <a:rPr lang="en-US" dirty="0">
                <a:solidFill>
                  <a:schemeClr val="bg1"/>
                </a:solidFill>
                <a:latin typeface="Bahnschrift SemiLight" panose="020B0502040204020203" pitchFamily="34" charset="0"/>
              </a:rPr>
              <a:t>.</a:t>
            </a:r>
          </a:p>
          <a:p>
            <a:endParaRPr lang="en-US" dirty="0"/>
          </a:p>
        </p:txBody>
      </p:sp>
      <p:sp>
        <p:nvSpPr>
          <p:cNvPr id="12" name="TextBox 11"/>
          <p:cNvSpPr txBox="1"/>
          <p:nvPr/>
        </p:nvSpPr>
        <p:spPr>
          <a:xfrm>
            <a:off x="9550400" y="910792"/>
            <a:ext cx="355600" cy="369332"/>
          </a:xfrm>
          <a:prstGeom prst="rect">
            <a:avLst/>
          </a:prstGeom>
          <a:noFill/>
        </p:spPr>
        <p:txBody>
          <a:bodyPr wrap="square" rtlCol="0">
            <a:spAutoFit/>
          </a:bodyPr>
          <a:lstStyle/>
          <a:p>
            <a:r>
              <a:rPr lang="en-ID" dirty="0">
                <a:solidFill>
                  <a:schemeClr val="bg1"/>
                </a:solidFill>
                <a:latin typeface="Arial Black" panose="020B0A04020102020204" pitchFamily="34" charset="0"/>
              </a:rPr>
              <a:t>2</a:t>
            </a:r>
            <a:endParaRPr lang="en-US" dirty="0">
              <a:solidFill>
                <a:schemeClr val="bg1"/>
              </a:solidFill>
              <a:latin typeface="Arial Black" panose="020B0A04020102020204" pitchFamily="34" charset="0"/>
            </a:endParaRPr>
          </a:p>
        </p:txBody>
      </p:sp>
      <p:grpSp>
        <p:nvGrpSpPr>
          <p:cNvPr id="14" name="Group 13"/>
          <p:cNvGrpSpPr/>
          <p:nvPr/>
        </p:nvGrpSpPr>
        <p:grpSpPr>
          <a:xfrm>
            <a:off x="2006600" y="5669058"/>
            <a:ext cx="9271000" cy="1198301"/>
            <a:chOff x="2006600" y="5669058"/>
            <a:chExt cx="9271000" cy="1198301"/>
          </a:xfrm>
        </p:grpSpPr>
        <p:sp>
          <p:nvSpPr>
            <p:cNvPr id="10" name="Snip Diagonal Corner Rectangle 9"/>
            <p:cNvSpPr/>
            <p:nvPr/>
          </p:nvSpPr>
          <p:spPr>
            <a:xfrm>
              <a:off x="2074333" y="5669058"/>
              <a:ext cx="9017000" cy="1198301"/>
            </a:xfrm>
            <a:prstGeom prst="snip2Diag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006600" y="5800024"/>
              <a:ext cx="9271000" cy="830997"/>
            </a:xfrm>
            <a:prstGeom prst="rect">
              <a:avLst/>
            </a:prstGeom>
            <a:noFill/>
          </p:spPr>
          <p:txBody>
            <a:bodyPr wrap="square" rtlCol="0">
              <a:spAutoFit/>
            </a:bodyPr>
            <a:lstStyle/>
            <a:p>
              <a:r>
                <a:rPr lang="en-US" sz="2400" dirty="0">
                  <a:solidFill>
                    <a:schemeClr val="bg1"/>
                  </a:solidFill>
                  <a:latin typeface="Bahnschrift SemiBold" panose="020B0502040204020203" pitchFamily="34" charset="0"/>
                </a:rPr>
                <a:t>From the three respondents, it can be concluded that all students use AI as a learning tool, but with different approaches</a:t>
              </a:r>
              <a:r>
                <a:rPr lang="en-US" sz="2400" dirty="0">
                  <a:solidFill>
                    <a:schemeClr val="bg1"/>
                  </a:solidFill>
                </a:rPr>
                <a:t>.</a:t>
              </a:r>
            </a:p>
          </p:txBody>
        </p:sp>
      </p:grpSp>
      <p:grpSp>
        <p:nvGrpSpPr>
          <p:cNvPr id="16" name="Group 15"/>
          <p:cNvGrpSpPr/>
          <p:nvPr/>
        </p:nvGrpSpPr>
        <p:grpSpPr>
          <a:xfrm>
            <a:off x="-673421" y="5378793"/>
            <a:ext cx="2529844" cy="2504456"/>
            <a:chOff x="-1050516" y="5859681"/>
            <a:chExt cx="2529844" cy="2504456"/>
          </a:xfrm>
        </p:grpSpPr>
        <p:sp>
          <p:nvSpPr>
            <p:cNvPr id="17" name="Oval 16"/>
            <p:cNvSpPr/>
            <p:nvPr/>
          </p:nvSpPr>
          <p:spPr>
            <a:xfrm>
              <a:off x="-1050516" y="5859681"/>
              <a:ext cx="2529844" cy="2504456"/>
            </a:xfrm>
            <a:prstGeom prst="ellipse">
              <a:avLst/>
            </a:prstGeom>
            <a:solidFill>
              <a:schemeClr val="tx2">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840836" y="6200503"/>
              <a:ext cx="1915555" cy="1822813"/>
            </a:xfrm>
            <a:prstGeom prst="ellipse">
              <a:avLst/>
            </a:prstGeom>
            <a:solidFill>
              <a:schemeClr val="accent1">
                <a:lumMod val="60000"/>
                <a:lumOff val="4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63741" y="-591009"/>
            <a:ext cx="1443789" cy="1415851"/>
            <a:chOff x="-260575" y="-344659"/>
            <a:chExt cx="1443789" cy="1415851"/>
          </a:xfrm>
        </p:grpSpPr>
        <p:sp>
          <p:nvSpPr>
            <p:cNvPr id="23" name="Oval 22"/>
            <p:cNvSpPr/>
            <p:nvPr/>
          </p:nvSpPr>
          <p:spPr>
            <a:xfrm>
              <a:off x="-260575" y="-344659"/>
              <a:ext cx="1443789" cy="1415851"/>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30975" y="-264006"/>
              <a:ext cx="1116522" cy="1110885"/>
            </a:xfrm>
            <a:prstGeom prst="ellipse">
              <a:avLst/>
            </a:prstGeom>
            <a:solidFill>
              <a:schemeClr val="bg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90415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4"/>
                                        </p:tgtEl>
                                        <p:attrNameLst>
                                          <p:attrName>fillcolor</p:attrName>
                                        </p:attrNameLst>
                                      </p:cBhvr>
                                      <p:to>
                                        <a:srgbClr val="78206E"/>
                                      </p:to>
                                    </p:animClr>
                                    <p:set>
                                      <p:cBhvr>
                                        <p:cTn id="7" dur="500" fill="hold"/>
                                        <p:tgtEl>
                                          <p:spTgt spid="4"/>
                                        </p:tgtEl>
                                        <p:attrNameLst>
                                          <p:attrName>fill.type</p:attrName>
                                        </p:attrNameLst>
                                      </p:cBhvr>
                                      <p:to>
                                        <p:strVal val="solid"/>
                                      </p:to>
                                    </p:set>
                                    <p:set>
                                      <p:cBhvr>
                                        <p:cTn id="8" dur="500" fill="hold"/>
                                        <p:tgtEl>
                                          <p:spTgt spid="4"/>
                                        </p:tgtEl>
                                        <p:attrNameLst>
                                          <p:attrName>fill.on</p:attrName>
                                        </p:attrNameLst>
                                      </p:cBhvr>
                                      <p:to>
                                        <p:strVal val="true"/>
                                      </p:to>
                                    </p:se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4"/>
                                        </p:tgtEl>
                                        <p:attrNameLst>
                                          <p:attrName>fillcolor</p:attrName>
                                        </p:attrNameLst>
                                      </p:cBhvr>
                                      <p:to>
                                        <a:srgbClr val="215E99"/>
                                      </p:to>
                                    </p:animClr>
                                    <p:set>
                                      <p:cBhvr>
                                        <p:cTn id="17" dur="500" fill="hold"/>
                                        <p:tgtEl>
                                          <p:spTgt spid="4"/>
                                        </p:tgtEl>
                                        <p:attrNameLst>
                                          <p:attrName>fill.type</p:attrName>
                                        </p:attrNameLst>
                                      </p:cBhvr>
                                      <p:to>
                                        <p:strVal val="solid"/>
                                      </p:to>
                                    </p:set>
                                    <p:set>
                                      <p:cBhvr>
                                        <p:cTn id="18" dur="500" fill="hold"/>
                                        <p:tgtEl>
                                          <p:spTgt spid="4"/>
                                        </p:tgtEl>
                                        <p:attrNameLst>
                                          <p:attrName>fill.on</p:attrName>
                                        </p:attrNameLst>
                                      </p:cBhvr>
                                      <p:to>
                                        <p:strVal val="true"/>
                                      </p:to>
                                    </p:set>
                                  </p:childTnLst>
                                </p:cTn>
                              </p:par>
                            </p:childTnLst>
                          </p:cTn>
                        </p:par>
                        <p:par>
                          <p:cTn id="19" fill="hold">
                            <p:stCondLst>
                              <p:cond delay="500"/>
                            </p:stCondLst>
                            <p:childTnLst>
                              <p:par>
                                <p:cTn id="20" presetID="1" presetClass="emph" presetSubtype="2" fill="hold" nodeType="afterEffect">
                                  <p:stCondLst>
                                    <p:cond delay="0"/>
                                  </p:stCondLst>
                                  <p:childTnLst>
                                    <p:animClr clrSpc="rgb" dir="cw">
                                      <p:cBhvr>
                                        <p:cTn id="21" dur="500" fill="hold"/>
                                        <p:tgtEl>
                                          <p:spTgt spid="6"/>
                                        </p:tgtEl>
                                        <p:attrNameLst>
                                          <p:attrName>fillcolor</p:attrName>
                                        </p:attrNameLst>
                                      </p:cBhvr>
                                      <p:to>
                                        <a:srgbClr val="78206E"/>
                                      </p:to>
                                    </p:animClr>
                                    <p:set>
                                      <p:cBhvr>
                                        <p:cTn id="22" dur="500" fill="hold"/>
                                        <p:tgtEl>
                                          <p:spTgt spid="6"/>
                                        </p:tgtEl>
                                        <p:attrNameLst>
                                          <p:attrName>fill.type</p:attrName>
                                        </p:attrNameLst>
                                      </p:cBhvr>
                                      <p:to>
                                        <p:strVal val="solid"/>
                                      </p:to>
                                    </p:set>
                                    <p:set>
                                      <p:cBhvr>
                                        <p:cTn id="23" dur="500" fill="hold"/>
                                        <p:tgtEl>
                                          <p:spTgt spid="6"/>
                                        </p:tgtEl>
                                        <p:attrNameLst>
                                          <p:attrName>fill.on</p:attrName>
                                        </p:attrNameLst>
                                      </p:cBhvr>
                                      <p:to>
                                        <p:strVal val="true"/>
                                      </p:to>
                                    </p:se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mph" presetSubtype="2" fill="hold" nodeType="clickEffect">
                                  <p:stCondLst>
                                    <p:cond delay="0"/>
                                  </p:stCondLst>
                                  <p:childTnLst>
                                    <p:animClr clrSpc="rgb" dir="cw">
                                      <p:cBhvr>
                                        <p:cTn id="31" dur="500" fill="hold"/>
                                        <p:tgtEl>
                                          <p:spTgt spid="6"/>
                                        </p:tgtEl>
                                        <p:attrNameLst>
                                          <p:attrName>fillcolor</p:attrName>
                                        </p:attrNameLst>
                                      </p:cBhvr>
                                      <p:to>
                                        <a:srgbClr val="215E99"/>
                                      </p:to>
                                    </p:animClr>
                                    <p:set>
                                      <p:cBhvr>
                                        <p:cTn id="32" dur="500" fill="hold"/>
                                        <p:tgtEl>
                                          <p:spTgt spid="6"/>
                                        </p:tgtEl>
                                        <p:attrNameLst>
                                          <p:attrName>fill.type</p:attrName>
                                        </p:attrNameLst>
                                      </p:cBhvr>
                                      <p:to>
                                        <p:strVal val="solid"/>
                                      </p:to>
                                    </p:set>
                                    <p:set>
                                      <p:cBhvr>
                                        <p:cTn id="33" dur="500" fill="hold"/>
                                        <p:tgtEl>
                                          <p:spTgt spid="6"/>
                                        </p:tgtEl>
                                        <p:attrNameLst>
                                          <p:attrName>fill.on</p:attrName>
                                        </p:attrNameLst>
                                      </p:cBhvr>
                                      <p:to>
                                        <p:strVal val="true"/>
                                      </p:to>
                                    </p:se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052929" cy="68580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792416" y="744558"/>
            <a:ext cx="2534478" cy="45719"/>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232452" y="357809"/>
            <a:ext cx="2604052" cy="461665"/>
          </a:xfrm>
          <a:prstGeom prst="rect">
            <a:avLst/>
          </a:prstGeom>
          <a:noFill/>
        </p:spPr>
        <p:txBody>
          <a:bodyPr wrap="square" rtlCol="0">
            <a:spAutoFit/>
          </a:bodyPr>
          <a:lstStyle/>
          <a:p>
            <a:r>
              <a:rPr lang="en-ID" sz="2400" dirty="0" smtClean="0">
                <a:solidFill>
                  <a:schemeClr val="bg1"/>
                </a:solidFill>
                <a:latin typeface="Arial Black" panose="020B0A04020102020204" pitchFamily="34" charset="0"/>
              </a:rPr>
              <a:t>CONCLUSION</a:t>
            </a:r>
            <a:endParaRPr lang="en-US" sz="2400" dirty="0">
              <a:solidFill>
                <a:schemeClr val="bg1"/>
              </a:solidFill>
              <a:latin typeface="Arial Black" panose="020B0A04020102020204" pitchFamily="34" charset="0"/>
            </a:endParaRPr>
          </a:p>
        </p:txBody>
      </p:sp>
      <p:sp>
        <p:nvSpPr>
          <p:cNvPr id="16" name="TextBox 15"/>
          <p:cNvSpPr txBox="1"/>
          <p:nvPr/>
        </p:nvSpPr>
        <p:spPr>
          <a:xfrm>
            <a:off x="586408" y="1177283"/>
            <a:ext cx="5188226" cy="3046988"/>
          </a:xfrm>
          <a:prstGeom prst="rect">
            <a:avLst/>
          </a:prstGeom>
          <a:noFill/>
        </p:spPr>
        <p:txBody>
          <a:bodyPr wrap="square" rtlCol="0">
            <a:spAutoFit/>
          </a:bodyPr>
          <a:lstStyle/>
          <a:p>
            <a:r>
              <a:rPr lang="en-US" sz="2400" dirty="0">
                <a:solidFill>
                  <a:schemeClr val="bg1"/>
                </a:solidFill>
                <a:latin typeface="Arial Rounded MT Bold" panose="020F0704030504030204" pitchFamily="34" charset="0"/>
              </a:rPr>
              <a:t>AI can indeed assist students in learning, potentially leading to improved grades. However, there are certain cases where students become dependent on it. Therefore, what's needed is responsibility in using and utilizing it.</a:t>
            </a:r>
          </a:p>
        </p:txBody>
      </p:sp>
      <p:sp>
        <p:nvSpPr>
          <p:cNvPr id="18" name="TextBox 17"/>
          <p:cNvSpPr txBox="1"/>
          <p:nvPr/>
        </p:nvSpPr>
        <p:spPr>
          <a:xfrm>
            <a:off x="7779026" y="2192945"/>
            <a:ext cx="4412974" cy="1015663"/>
          </a:xfrm>
          <a:prstGeom prst="rect">
            <a:avLst/>
          </a:prstGeom>
          <a:noFill/>
        </p:spPr>
        <p:txBody>
          <a:bodyPr wrap="square" rtlCol="0">
            <a:spAutoFit/>
          </a:bodyPr>
          <a:lstStyle/>
          <a:p>
            <a:r>
              <a:rPr lang="en-ID" sz="6000" dirty="0" smtClean="0">
                <a:latin typeface="Franklin Gothic Demi" panose="020B0703020102020204" pitchFamily="34" charset="0"/>
              </a:rPr>
              <a:t>Thank You</a:t>
            </a:r>
            <a:endParaRPr lang="en-US" sz="6000" dirty="0">
              <a:latin typeface="Franklin Gothic Demi" panose="020B0703020102020204" pitchFamily="34" charset="0"/>
            </a:endParaRPr>
          </a:p>
        </p:txBody>
      </p:sp>
      <p:sp>
        <p:nvSpPr>
          <p:cNvPr id="24" name="TextBox 23"/>
          <p:cNvSpPr txBox="1"/>
          <p:nvPr/>
        </p:nvSpPr>
        <p:spPr>
          <a:xfrm>
            <a:off x="1430967" y="5165124"/>
            <a:ext cx="2405537" cy="1015663"/>
          </a:xfrm>
          <a:prstGeom prst="rect">
            <a:avLst/>
          </a:prstGeom>
          <a:noFill/>
        </p:spPr>
        <p:txBody>
          <a:bodyPr wrap="square" rtlCol="0">
            <a:spAutoFit/>
          </a:bodyPr>
          <a:lstStyle/>
          <a:p>
            <a:r>
              <a:rPr lang="en-ID" sz="6000" dirty="0" smtClean="0">
                <a:solidFill>
                  <a:schemeClr val="bg1"/>
                </a:solidFill>
                <a:latin typeface="Arial Rounded MT Bold" panose="020F0704030504030204" pitchFamily="34" charset="0"/>
              </a:rPr>
              <a:t>Q&amp;A?</a:t>
            </a:r>
          </a:p>
        </p:txBody>
      </p:sp>
    </p:spTree>
    <p:extLst>
      <p:ext uri="{BB962C8B-B14F-4D97-AF65-F5344CB8AC3E}">
        <p14:creationId xmlns:p14="http://schemas.microsoft.com/office/powerpoint/2010/main" val="225381264"/>
      </p:ext>
    </p:extLst>
  </p:cSld>
  <p:clrMapOvr>
    <a:masterClrMapping/>
  </p:clrMapOvr>
  <p:transition spd="slow">
    <p:wipe dir="d"/>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871</TotalTime>
  <Words>607</Words>
  <Application>Microsoft Office PowerPoint</Application>
  <PresentationFormat>Widescreen</PresentationFormat>
  <Paragraphs>71</Paragraphs>
  <Slides>10</Slides>
  <Notes>1</Notes>
  <HiddenSlides>0</HiddenSlides>
  <MMClips>0</MMClips>
  <ScaleCrop>false</ScaleCrop>
  <HeadingPairs>
    <vt:vector size="6" baseType="variant">
      <vt:variant>
        <vt:lpstr>Fonts Used</vt:lpstr>
      </vt:variant>
      <vt:variant>
        <vt:i4>26</vt:i4>
      </vt:variant>
      <vt:variant>
        <vt:lpstr>Theme</vt:lpstr>
      </vt:variant>
      <vt:variant>
        <vt:i4>1</vt:i4>
      </vt:variant>
      <vt:variant>
        <vt:lpstr>Slide Titles</vt:lpstr>
      </vt:variant>
      <vt:variant>
        <vt:i4>10</vt:i4>
      </vt:variant>
    </vt:vector>
  </HeadingPairs>
  <TitlesOfParts>
    <vt:vector size="37" baseType="lpstr">
      <vt:lpstr>Arial Unicode MS</vt:lpstr>
      <vt:lpstr>Microsoft YaHei</vt:lpstr>
      <vt:lpstr>Noto Sans SC Black</vt:lpstr>
      <vt:lpstr>AngsanaUPC</vt:lpstr>
      <vt:lpstr>Aptos</vt:lpstr>
      <vt:lpstr>Aptos Display</vt:lpstr>
      <vt:lpstr>Arial</vt:lpstr>
      <vt:lpstr>Arial Black</vt:lpstr>
      <vt:lpstr>Arial Rounded MT Bold</vt:lpstr>
      <vt:lpstr>Bahnschrift SemiBold</vt:lpstr>
      <vt:lpstr>Bahnschrift SemiLight</vt:lpstr>
      <vt:lpstr>Bodoni MT Black</vt:lpstr>
      <vt:lpstr>Britannic Bold</vt:lpstr>
      <vt:lpstr>Calibri</vt:lpstr>
      <vt:lpstr>Cascadia Code</vt:lpstr>
      <vt:lpstr>Cascadia Mono SemiBold</vt:lpstr>
      <vt:lpstr>Century</vt:lpstr>
      <vt:lpstr>Cooper Black</vt:lpstr>
      <vt:lpstr>Franklin Gothic Demi</vt:lpstr>
      <vt:lpstr>Franklin Gothic Heavy</vt:lpstr>
      <vt:lpstr>Georgia</vt:lpstr>
      <vt:lpstr>Microsoft Tai Le</vt:lpstr>
      <vt:lpstr>Palatino Linotype</vt:lpstr>
      <vt:lpstr>ROG Fonts STRIX SCAR</vt:lpstr>
      <vt:lpstr>Segoe UI Black</vt:lpstr>
      <vt:lpstr>Sitka Small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Judika Ompusunggu</dc:creator>
  <cp:lastModifiedBy>Microsoft account</cp:lastModifiedBy>
  <cp:revision>91</cp:revision>
  <dcterms:created xsi:type="dcterms:W3CDTF">2025-11-30T10:05:43Z</dcterms:created>
  <dcterms:modified xsi:type="dcterms:W3CDTF">2025-12-05T07:40:39Z</dcterms:modified>
</cp:coreProperties>
</file>